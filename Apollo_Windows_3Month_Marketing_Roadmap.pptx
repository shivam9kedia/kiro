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10" Type="http://schemas.openxmlformats.org/officeDocument/2006/relationships/slide" Target="slides/slide1.xml"/>
  <Relationship Id="rId11" Type="http://schemas.openxmlformats.org/officeDocument/2006/relationships/slide" Target="slides/slide2.xml"/>
  <Relationship Id="rId12" Type="http://schemas.openxmlformats.org/officeDocument/2006/relationships/slide" Target="slides/slide3.xml"/>
  <Relationship Id="rId13" Type="http://schemas.openxmlformats.org/officeDocument/2006/relationships/slide" Target="slides/slide4.xml"/>
  <Relationship Id="rId14" Type="http://schemas.openxmlformats.org/officeDocument/2006/relationships/slide" Target="slides/slide5.xml"/>
  <Relationship Id="rId15" Type="http://schemas.openxmlformats.org/officeDocument/2006/relationships/slide" Target="slides/slide6.xml"/>
  <Relationship Id="rId16" Type="http://schemas.openxmlformats.org/officeDocument/2006/relationships/slide" Target="slides/slide7.xml"/>
  <Relationship Id="rId17" Type="http://schemas.openxmlformats.org/officeDocument/2006/relationships/slide" Target="slides/slide8.xml"/>
  <Relationship Id="rId18" Type="http://schemas.openxmlformats.org/officeDocument/2006/relationships/slide" Target="slides/slide9.xml"/>
  <Relationship Id="rId19" Type="http://schemas.openxmlformats.org/officeDocument/2006/relationships/slide" Target="slides/slide10.xml"/>
  <Relationship Id="rId20" Type="http://schemas.openxmlformats.org/officeDocument/2006/relationships/slide" Target="slides/slide11.xml"/>
  <Relationship Id="rId21" Type="http://schemas.openxmlformats.org/officeDocument/2006/relationships/slide" Target="slides/slide12.xml"/>
  <Relationship Id="rId22" Type="http://schemas.openxmlformats.org/officeDocument/2006/relationships/slide" Target="slides/slide13.xml"/>
  <Relationship Id="rId23" Type="http://schemas.openxmlformats.org/officeDocument/2006/relationships/slide" Target="slides/slide14.xml"/>
  <Relationship Id="rId24" Type="http://schemas.openxmlformats.org/officeDocument/2006/relationships/slide" Target="slides/slide15.xml"/>
  <Relationship Id="rId25" Type="http://schemas.openxmlformats.org/officeDocument/2006/relationships/slide" Target="slides/slide16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"/>
          <p:cNvSpPr/>
          <p:nvPr/>
        </p:nvSpPr>
        <p:spPr>
          <a:xfrm>
            <a:off x="0" y="0"/>
            <a:ext cx="12192000" cy="109728"/>
          </a:xfrm>
          <a:prstGeom prst="rect"/>
          <a:solidFill>
            <a:srgbClr val="C41E3A"/>
          </a:solidFill>
          <a:ln>
            <a:noFill/>
          </a:ln>
        </p:spPr>
      </p:sp>
      <p:sp>
        <p:nvSpPr>
          <p:cNvPr id="3" name="t"/>
          <p:cNvSpPr txBox="1"/>
          <p:nvPr/>
        </p:nvSpPr>
        <p:spPr>
          <a:xfrm>
            <a:off x="1097280" y="1463040"/>
            <a:ext cx="6858000" cy="164592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3400" b="1" dirty="0">
                <a:solidFill>
                  <a:srgbClr val="FFFFFF"/>
                </a:solidFill>
                <a:latin typeface="Segoe UI"/>
              </a:rPr>
              <a:t>3-MONTH DIGITAL MARKETING</a:t>
            </a:r>
          </a:p>
          <a:p>
            <a:pPr algn="l">
              <a:spcBef>
                <a:spcPts val="200"/>
              </a:spcBef>
            </a:pPr>
            <a:r>
              <a:rPr lang="en-US" sz="3400" b="1" dirty="0">
                <a:solidFill>
                  <a:srgbClr val="C41E3A"/>
                </a:solidFill>
                <a:latin typeface="Segoe UI"/>
              </a:rPr>
              <a:t>ROADMAP &amp; STRATEGY</a:t>
            </a:r>
          </a:p>
        </p:txBody>
      </p:sp>
      <p:sp>
        <p:nvSpPr>
          <p:cNvPr id="4" name="sub"/>
          <p:cNvSpPr txBox="1"/>
          <p:nvPr/>
        </p:nvSpPr>
        <p:spPr>
          <a:xfrm>
            <a:off x="1097280" y="3474720"/>
            <a:ext cx="6400800" cy="109728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800" b="0" dirty="0">
                <a:solidFill>
                  <a:srgbClr val="BDC3C7"/>
                </a:solidFill>
                <a:latin typeface="Segoe UI"/>
              </a:rPr>
              <a:t>Apollo Windows &amp; Doors | Calgary, AB</a:t>
            </a:r>
          </a:p>
          <a:p>
            <a:pPr algn="l">
              <a:spcBef>
                <a:spcPts val="300"/>
              </a:spcBef>
            </a:pPr>
            <a:r>
              <a:rPr lang="en-US" sz="1300" b="0" dirty="0">
                <a:solidFill>
                  <a:srgbClr val="7F8C8D"/>
                </a:solidFill>
                <a:latin typeface="Segoe UI"/>
              </a:rPr>
              <a:t>Prepared: May 2026</a:t>
            </a:r>
          </a:p>
        </p:txBody>
      </p:sp>
      <p:sp>
        <p:nvSpPr>
          <p:cNvPr id="5" name="box"/>
          <p:cNvSpPr/>
          <p:nvPr/>
        </p:nvSpPr>
        <p:spPr>
          <a:xfrm>
            <a:off x="8046720" y="1645920"/>
            <a:ext cx="2743200" cy="3474720"/>
          </a:xfrm>
          <a:prstGeom prst="roundRect"/>
          <a:solidFill>
            <a:srgbClr val="2C3E50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100" b="1">
                <a:solidFill>
                  <a:srgbClr val="C41E3A"/>
                </a:solidFill>
                <a:latin typeface="Segoe UI"/>
              </a:rPr>
              <a:t>INCLUDES</a:t>
            </a:r>
          </a:p>
          <a:p>
            <a:pPr algn="l"/>
            <a:r>
              <a:rPr lang="en-US" sz="5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Website Audit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Competitor Analysis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Social Media Plan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Content Calendar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Ads Strategy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Service Proposal</a:t>
            </a:r>
          </a:p>
        </p:txBody>
      </p:sp>
      <p:sp>
        <p:nvSpPr>
          <p:cNvPr id="6" name="bot"/>
          <p:cNvSpPr/>
          <p:nvPr/>
        </p:nvSpPr>
        <p:spPr>
          <a:xfrm>
            <a:off x="0" y="6675120"/>
            <a:ext cx="12192000" cy="182880"/>
          </a:xfrm>
          <a:prstGeom prst="rect"/>
          <a:solidFill>
            <a:srgbClr val="C41E3A"/>
          </a:solidFill>
          <a:ln>
            <a:noFill/>
          </a:ln>
        </p:spPr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"/>
          <p:cNvSpPr/>
          <p:nvPr/>
        </p:nvSpPr>
        <p:spPr>
          <a:xfrm>
            <a:off x="0" y="0"/>
            <a:ext cx="12192000" cy="1005840"/>
          </a:xfrm>
          <a:prstGeom prst="rect"/>
          <a:solidFill>
            <a:srgbClr val="1B2A4A"/>
          </a:solidFill>
          <a:ln>
            <a:noFill/>
          </a:ln>
        </p:spPr>
      </p:sp>
      <p:sp>
        <p:nvSpPr>
          <p:cNvPr id="3" name="ht"/>
          <p:cNvSpPr txBox="1"/>
          <p:nvPr/>
        </p:nvSpPr>
        <p:spPr>
          <a:xfrm>
            <a:off x="457200" y="137160"/>
            <a:ext cx="8229600" cy="8229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  <a:latin typeface="Segoe UI"/>
              </a:rPr>
              <a:t>TABLE OF CONTENTS</a:t>
            </a:r>
          </a:p>
        </p:txBody>
      </p:sp>
      <p:sp>
        <p:nvSpPr>
          <p:cNvPr id="4" name="l"/>
          <p:cNvSpPr txBox="1"/>
          <p:nvPr/>
        </p:nvSpPr>
        <p:spPr>
          <a:xfrm>
            <a:off x="640080" y="1280160"/>
            <a:ext cx="5029200" cy="502920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350"/>
              </a:spcBef>
            </a:pPr>
            <a:r>
              <a:rPr lang="en-US" sz="1350" b="0" dirty="0">
                <a:solidFill>
                  <a:srgbClr val="2C3E50"/>
                </a:solidFill>
                <a:latin typeface="Segoe UI"/>
              </a:rPr>
              <a:t>01  Brand Overview &amp; Current State</a:t>
            </a:r>
          </a:p>
          <a:p>
            <a:pPr algn="l">
              <a:spcBef>
                <a:spcPts val="350"/>
              </a:spcBef>
            </a:pPr>
            <a:r>
              <a:rPr lang="en-US" sz="1350" b="0" dirty="0">
                <a:solidFill>
                  <a:srgbClr val="2C3E50"/>
                </a:solidFill>
                <a:latin typeface="Segoe UI"/>
              </a:rPr>
              <a:t>02  Website Audit &amp; SEO Issues</a:t>
            </a:r>
          </a:p>
          <a:p>
            <a:pPr algn="l">
              <a:spcBef>
                <a:spcPts val="350"/>
              </a:spcBef>
            </a:pPr>
            <a:r>
              <a:rPr lang="en-US" sz="1350" b="0" dirty="0">
                <a:solidFill>
                  <a:srgbClr val="2C3E50"/>
                </a:solidFill>
                <a:latin typeface="Segoe UI"/>
              </a:rPr>
              <a:t>03  Competitor Analysis</a:t>
            </a:r>
          </a:p>
          <a:p>
            <a:pPr algn="l">
              <a:spcBef>
                <a:spcPts val="350"/>
              </a:spcBef>
            </a:pPr>
            <a:r>
              <a:rPr lang="en-US" sz="1350" b="0" dirty="0">
                <a:solidFill>
                  <a:srgbClr val="2C3E50"/>
                </a:solidFill>
                <a:latin typeface="Segoe UI"/>
              </a:rPr>
              <a:t>04  Social Media Audit</a:t>
            </a:r>
          </a:p>
          <a:p>
            <a:pPr algn="l">
              <a:spcBef>
                <a:spcPts val="350"/>
              </a:spcBef>
            </a:pPr>
            <a:r>
              <a:rPr lang="en-US" sz="1350" b="0" dirty="0">
                <a:solidFill>
                  <a:srgbClr val="2C3E50"/>
                </a:solidFill>
                <a:latin typeface="Segoe UI"/>
              </a:rPr>
              <a:t>05  Opportunities &amp; Quick Wins</a:t>
            </a:r>
          </a:p>
          <a:p>
            <a:pPr algn="l">
              <a:spcBef>
                <a:spcPts val="350"/>
              </a:spcBef>
            </a:pPr>
            <a:r>
              <a:rPr lang="en-US" sz="1350" b="0" dirty="0">
                <a:solidFill>
                  <a:srgbClr val="2C3E50"/>
                </a:solidFill>
                <a:latin typeface="Segoe UI"/>
              </a:rPr>
              <a:t>06  Content Plan (Month 1-3)</a:t>
            </a:r>
          </a:p>
        </p:txBody>
      </p:sp>
      <p:sp>
        <p:nvSpPr>
          <p:cNvPr id="5" name="r"/>
          <p:cNvSpPr txBox="1"/>
          <p:nvPr/>
        </p:nvSpPr>
        <p:spPr>
          <a:xfrm>
            <a:off x="5760720" y="1280160"/>
            <a:ext cx="5029200" cy="502920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350"/>
              </a:spcBef>
            </a:pPr>
            <a:r>
              <a:rPr lang="en-US" sz="1350" b="0" dirty="0">
                <a:solidFill>
                  <a:srgbClr val="2C3E50"/>
                </a:solidFill>
                <a:latin typeface="Segoe UI"/>
              </a:rPr>
              <a:t>07  Ads Strategy ($300/mo Breakdown)</a:t>
            </a:r>
          </a:p>
          <a:p>
            <a:pPr algn="l">
              <a:spcBef>
                <a:spcPts val="350"/>
              </a:spcBef>
            </a:pPr>
            <a:r>
              <a:rPr lang="en-US" sz="1350" b="0" dirty="0">
                <a:solidFill>
                  <a:srgbClr val="2C3E50"/>
                </a:solidFill>
                <a:latin typeface="Segoe UI"/>
              </a:rPr>
              <a:t>08  Month-by-Month Roadmap</a:t>
            </a:r>
          </a:p>
          <a:p>
            <a:pPr algn="l">
              <a:spcBef>
                <a:spcPts val="350"/>
              </a:spcBef>
            </a:pPr>
            <a:r>
              <a:rPr lang="en-US" sz="1350" b="0" dirty="0">
                <a:solidFill>
                  <a:srgbClr val="2C3E50"/>
                </a:solidFill>
                <a:latin typeface="Segoe UI"/>
              </a:rPr>
              <a:t>09  KPIs &amp; Success Metrics</a:t>
            </a:r>
          </a:p>
          <a:p>
            <a:pPr algn="l">
              <a:spcBef>
                <a:spcPts val="350"/>
              </a:spcBef>
            </a:pPr>
            <a:r>
              <a:rPr lang="en-US" sz="1350" b="0" dirty="0">
                <a:solidFill>
                  <a:srgbClr val="2C3E50"/>
                </a:solidFill>
                <a:latin typeface="Segoe UI"/>
              </a:rPr>
              <a:t>10  Standard Plan (INR 10K)</a:t>
            </a:r>
          </a:p>
          <a:p>
            <a:pPr algn="l">
              <a:spcBef>
                <a:spcPts val="350"/>
              </a:spcBef>
            </a:pPr>
            <a:r>
              <a:rPr lang="en-US" sz="1350" b="0" dirty="0">
                <a:solidFill>
                  <a:srgbClr val="2C3E50"/>
                </a:solidFill>
                <a:latin typeface="Segoe UI"/>
              </a:rPr>
              <a:t>11  Business Plan (INR 18K)</a:t>
            </a:r>
          </a:p>
        </p:txBody>
      </p:sp>
      <p:sp>
        <p:nvSpPr>
          <p:cNvPr id="6" name="acc"/>
          <p:cNvSpPr/>
          <p:nvPr/>
        </p:nvSpPr>
        <p:spPr>
          <a:xfrm>
            <a:off x="640080" y="1143000"/>
            <a:ext cx="1645920" cy="36576"/>
          </a:xfrm>
          <a:prstGeom prst="rect"/>
          <a:solidFill>
            <a:srgbClr val="C41E3A"/>
          </a:solidFill>
          <a:ln>
            <a:noFill/>
          </a:ln>
        </p:spPr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"/>
          <p:cNvSpPr/>
          <p:nvPr/>
        </p:nvSpPr>
        <p:spPr>
          <a:xfrm>
            <a:off x="0" y="0"/>
            <a:ext cx="12192000" cy="1005840"/>
          </a:xfrm>
          <a:prstGeom prst="rect"/>
          <a:solidFill>
            <a:srgbClr val="1B2A4A"/>
          </a:solidFill>
          <a:ln>
            <a:noFill/>
          </a:ln>
        </p:spPr>
      </p:sp>
      <p:sp>
        <p:nvSpPr>
          <p:cNvPr id="3" name="ht"/>
          <p:cNvSpPr txBox="1"/>
          <p:nvPr/>
        </p:nvSpPr>
        <p:spPr>
          <a:xfrm>
            <a:off x="457200" y="137160"/>
            <a:ext cx="9144000" cy="8229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900" b="1" dirty="0">
                <a:solidFill>
                  <a:srgbClr val="FFFFFF"/>
                </a:solidFill>
                <a:latin typeface="Segoe UI"/>
              </a:rPr>
              <a:t>01 | BRAND OVERVIEW &amp; CURRENT STATE</a:t>
            </a:r>
          </a:p>
        </p:txBody>
      </p:sp>
      <p:sp>
        <p:nvSpPr>
          <p:cNvPr id="4" name="info"/>
          <p:cNvSpPr/>
          <p:nvPr/>
        </p:nvSpPr>
        <p:spPr>
          <a:xfrm>
            <a:off x="365760" y="1280160"/>
            <a:ext cx="5120640" cy="5212080"/>
          </a:xfrm>
          <a:prstGeom prst="roundRect"/>
          <a:solidFill>
            <a:srgbClr val="F4F6F8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400" b="1">
                <a:solidFill>
                  <a:srgbClr val="1B2A4A"/>
                </a:solidFill>
                <a:latin typeface="Segoe UI"/>
              </a:rPr>
              <a:t>APOLLO WINDOWS &amp; DOORS</a:t>
            </a:r>
          </a:p>
          <a:p>
            <a:pPr algn="l"/>
            <a:r>
              <a:rPr lang="en-US" sz="350" b="0">
                <a:solidFill>
                  <a:srgbClr val="1B2A4A"/>
                </a:solidFill>
                <a:latin typeface="Segoe UI"/>
              </a:rPr>
              <a:t/>
            </a:r>
          </a:p>
          <a:p>
            <a:pPr algn="l"/>
            <a:r>
              <a:rPr lang="en-US" sz="1050" b="0">
                <a:solidFill>
                  <a:srgbClr val="2C3E50"/>
                </a:solidFill>
                <a:latin typeface="Segoe UI"/>
              </a:rPr>
              <a:t>Est. 1999 | Family-Owned | Calgary, AB</a:t>
            </a:r>
          </a:p>
          <a:p>
            <a:pPr algn="l"/>
            <a:r>
              <a:rPr lang="en-US" sz="350" b="0">
                <a:solidFill>
                  <a:srgbClr val="1B2A4A"/>
                </a:solidFill>
                <a:latin typeface="Segoe UI"/>
              </a:rPr>
              <a:t/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Location: 26-3530 32 St NE, Calgary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Phone: (403) 568-0777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Hours: Mon-Fri 8-5, Sat 9-2:30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BBB Rating: A+ Accredited</a:t>
            </a:r>
          </a:p>
          <a:p>
            <a:pPr algn="l"/>
            <a:r>
              <a:rPr lang="en-US" sz="350" b="0">
                <a:solidFill>
                  <a:srgbClr val="1B2A4A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1B2A4A"/>
                </a:solidFill>
                <a:latin typeface="Segoe UI"/>
              </a:rPr>
              <a:t>PRODUCTS: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Vinyl &amp; Hybrid Windows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Swing &amp; Patio Doors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Insulated Glass Solutions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Custom Manufacturing</a:t>
            </a:r>
          </a:p>
        </p:txBody>
      </p:sp>
      <p:sp>
        <p:nvSpPr>
          <p:cNvPr id="5" name="str"/>
          <p:cNvSpPr/>
          <p:nvPr/>
        </p:nvSpPr>
        <p:spPr>
          <a:xfrm>
            <a:off x="5669280" y="1280160"/>
            <a:ext cx="4937760" cy="2377440"/>
          </a:xfrm>
          <a:prstGeom prst="roundRect"/>
          <a:solidFill>
            <a:srgbClr val="1D6B3F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STRENGTHS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25+ years in business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Local manufacturer (Calgary-made)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BBB A+ rated - high trust signal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Climate-specific engineering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Competitive pricing vs. national brands</a:t>
            </a:r>
          </a:p>
        </p:txBody>
      </p:sp>
      <p:sp>
        <p:nvSpPr>
          <p:cNvPr id="6" name="ch"/>
          <p:cNvSpPr/>
          <p:nvPr/>
        </p:nvSpPr>
        <p:spPr>
          <a:xfrm>
            <a:off x="5669280" y="3840480"/>
            <a:ext cx="4937760" cy="2651760"/>
          </a:xfrm>
          <a:prstGeom prst="roundRect"/>
          <a:solidFill>
            <a:srgbClr val="C41E3A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CHALLENGES IDENTIFIED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Limited social media presence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Website lacks modern SEO structure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Low online visibility vs. competitors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No consistent content strategy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Minimal Google reviews strategy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No paid ads running currently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"/>
          <p:cNvSpPr/>
          <p:nvPr/>
        </p:nvSpPr>
        <p:spPr>
          <a:xfrm>
            <a:off x="0" y="0"/>
            <a:ext cx="12192000" cy="1005840"/>
          </a:xfrm>
          <a:prstGeom prst="rect"/>
          <a:solidFill>
            <a:srgbClr val="1B2A4A"/>
          </a:solidFill>
          <a:ln>
            <a:noFill/>
          </a:ln>
        </p:spPr>
      </p:sp>
      <p:sp>
        <p:nvSpPr>
          <p:cNvPr id="3" name="ht"/>
          <p:cNvSpPr txBox="1"/>
          <p:nvPr/>
        </p:nvSpPr>
        <p:spPr>
          <a:xfrm>
            <a:off x="457200" y="137160"/>
            <a:ext cx="9144000" cy="8229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900" b="1" dirty="0">
                <a:solidFill>
                  <a:srgbClr val="FFFFFF"/>
                </a:solidFill>
                <a:latin typeface="Segoe UI"/>
              </a:rPr>
              <a:t>02 | WEBSITE AUDIT &amp; SEO ISSUES</a:t>
            </a:r>
          </a:p>
        </p:txBody>
      </p:sp>
      <p:sp>
        <p:nvSpPr>
          <p:cNvPr id="4" name="it"/>
          <p:cNvSpPr txBox="1"/>
          <p:nvPr/>
        </p:nvSpPr>
        <p:spPr>
          <a:xfrm>
            <a:off x="457200" y="1188720"/>
            <a:ext cx="5029200" cy="3657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250" b="1" dirty="0">
                <a:solidFill>
                  <a:srgbClr val="C41E3A"/>
                </a:solidFill>
                <a:latin typeface="Segoe UI"/>
              </a:rPr>
              <a:t>CRITICAL ISSUES TO ADDRESS</a:t>
            </a:r>
          </a:p>
        </p:txBody>
      </p:sp>
      <p:sp>
        <p:nvSpPr>
          <p:cNvPr id="5" name="iss"/>
          <p:cNvSpPr txBox="1"/>
          <p:nvPr/>
        </p:nvSpPr>
        <p:spPr>
          <a:xfrm>
            <a:off x="457200" y="1645920"/>
            <a:ext cx="5029200" cy="4754880"/>
          </a:xfrm>
          <a:prstGeom prst="rect"/>
          <a:noFill/>
        </p:spPr>
        <p:txBody>
          <a:bodyPr wrap="square" anchor="t"/>
          <a:lstStyle/>
          <a:p>
            <a:pPr algn="l">
              <a:buFont typeface="Arial"/>
              <a:buChar char="•"/>
              <a:spcBef>
                <a:spcPts val="180"/>
              </a:spcBef>
            </a:pPr>
            <a:r>
              <a:rPr lang="en-US" sz="1000" b="0" dirty="0">
                <a:solidFill>
                  <a:srgbClr val="333333"/>
                </a:solidFill>
                <a:latin typeface="Segoe UI"/>
              </a:rPr>
              <a:t>Missing/weak meta titles &amp; descriptions</a:t>
            </a:r>
          </a:p>
          <a:p>
            <a:pPr algn="l">
              <a:buFont typeface="Arial"/>
              <a:buChar char="•"/>
              <a:spcBef>
                <a:spcPts val="180"/>
              </a:spcBef>
            </a:pPr>
            <a:r>
              <a:rPr lang="en-US" sz="1000" b="0" dirty="0">
                <a:solidFill>
                  <a:srgbClr val="333333"/>
                </a:solidFill>
                <a:latin typeface="Segoe UI"/>
              </a:rPr>
              <a:t>No active blog or content hub for SEO</a:t>
            </a:r>
          </a:p>
          <a:p>
            <a:pPr algn="l">
              <a:buFont typeface="Arial"/>
              <a:buChar char="•"/>
              <a:spcBef>
                <a:spcPts val="180"/>
              </a:spcBef>
            </a:pPr>
            <a:r>
              <a:rPr lang="en-US" sz="1000" b="0" dirty="0">
                <a:solidFill>
                  <a:srgbClr val="333333"/>
                </a:solidFill>
                <a:latin typeface="Segoe UI"/>
              </a:rPr>
              <a:t>No location-specific landing pages</a:t>
            </a:r>
          </a:p>
          <a:p>
            <a:pPr algn="l">
              <a:buFont typeface="Arial"/>
              <a:buChar char="•"/>
              <a:spcBef>
                <a:spcPts val="180"/>
              </a:spcBef>
            </a:pPr>
            <a:r>
              <a:rPr lang="en-US" sz="1000" b="0" dirty="0">
                <a:solidFill>
                  <a:srgbClr val="333333"/>
                </a:solidFill>
                <a:latin typeface="Segoe UI"/>
              </a:rPr>
              <a:t>Page speed optimization needed</a:t>
            </a:r>
          </a:p>
          <a:p>
            <a:pPr algn="l">
              <a:buFont typeface="Arial"/>
              <a:buChar char="•"/>
              <a:spcBef>
                <a:spcPts val="180"/>
              </a:spcBef>
            </a:pPr>
            <a:r>
              <a:rPr lang="en-US" sz="1000" b="0" dirty="0">
                <a:solidFill>
                  <a:srgbClr val="333333"/>
                </a:solidFill>
                <a:latin typeface="Segoe UI"/>
              </a:rPr>
              <a:t>Missing schema markup (LocalBusiness)</a:t>
            </a:r>
          </a:p>
          <a:p>
            <a:pPr algn="l">
              <a:buFont typeface="Arial"/>
              <a:buChar char="•"/>
              <a:spcBef>
                <a:spcPts val="180"/>
              </a:spcBef>
            </a:pPr>
            <a:r>
              <a:rPr lang="en-US" sz="1000" b="0" dirty="0">
                <a:solidFill>
                  <a:srgbClr val="333333"/>
                </a:solidFill>
                <a:latin typeface="Segoe UI"/>
              </a:rPr>
              <a:t>No clear CTA funnel on service pages</a:t>
            </a:r>
          </a:p>
          <a:p>
            <a:pPr algn="l">
              <a:buFont typeface="Arial"/>
              <a:buChar char="•"/>
              <a:spcBef>
                <a:spcPts val="180"/>
              </a:spcBef>
            </a:pPr>
            <a:r>
              <a:rPr lang="en-US" sz="1000" b="0" dirty="0">
                <a:solidFill>
                  <a:srgbClr val="333333"/>
                </a:solidFill>
                <a:latin typeface="Segoe UI"/>
              </a:rPr>
              <a:t>Limited internal linking structure</a:t>
            </a:r>
          </a:p>
          <a:p>
            <a:pPr algn="l">
              <a:buFont typeface="Arial"/>
              <a:buChar char="•"/>
              <a:spcBef>
                <a:spcPts val="180"/>
              </a:spcBef>
            </a:pPr>
            <a:r>
              <a:rPr lang="en-US" sz="1000" b="0" dirty="0">
                <a:solidFill>
                  <a:srgbClr val="333333"/>
                </a:solidFill>
                <a:latin typeface="Segoe UI"/>
              </a:rPr>
              <a:t>GMB profile needs optimization &amp; posts</a:t>
            </a:r>
          </a:p>
        </p:txBody>
      </p:sp>
      <p:sp>
        <p:nvSpPr>
          <p:cNvPr id="6" name="reco"/>
          <p:cNvSpPr/>
          <p:nvPr/>
        </p:nvSpPr>
        <p:spPr>
          <a:xfrm>
            <a:off x="5669280" y="1188720"/>
            <a:ext cx="4937760" cy="5303520"/>
          </a:xfrm>
          <a:prstGeom prst="roundRect"/>
          <a:solidFill>
            <a:srgbClr val="F4F6F8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1B2A4A"/>
                </a:solidFill>
                <a:latin typeface="Segoe UI"/>
              </a:rPr>
              <a:t>SEO PRIORITY ACTIONS</a:t>
            </a:r>
          </a:p>
          <a:p>
            <a:pPr algn="l"/>
            <a:r>
              <a:rPr lang="en-US" sz="250" b="0">
                <a:solidFill>
                  <a:srgbClr val="1B2A4A"/>
                </a:solidFill>
                <a:latin typeface="Segoe UI"/>
              </a:rPr>
              <a:t/>
            </a:r>
          </a:p>
          <a:p>
            <a:pPr algn="l"/>
            <a:r>
              <a:rPr lang="en-US" sz="1000" b="0">
                <a:solidFill>
                  <a:srgbClr val="333333"/>
                </a:solidFill>
                <a:latin typeface="Segoe UI"/>
              </a:rPr>
              <a:t>1. Optimize all page titles &amp; metas</a:t>
            </a:r>
          </a:p>
          <a:p>
            <a:pPr algn="l"/>
            <a:r>
              <a:rPr lang="en-US" sz="1000" b="0">
                <a:solidFill>
                  <a:srgbClr val="333333"/>
                </a:solidFill>
                <a:latin typeface="Segoe UI"/>
              </a:rPr>
              <a:t>2. Add LocalBusiness schema markup</a:t>
            </a:r>
          </a:p>
          <a:p>
            <a:pPr algn="l"/>
            <a:r>
              <a:rPr lang="en-US" sz="1000" b="0">
                <a:solidFill>
                  <a:srgbClr val="333333"/>
                </a:solidFill>
                <a:latin typeface="Segoe UI"/>
              </a:rPr>
              <a:t>3. Create Calgary neighbourhood pages</a:t>
            </a:r>
          </a:p>
          <a:p>
            <a:pPr algn="l"/>
            <a:r>
              <a:rPr lang="en-US" sz="1000" b="0">
                <a:solidFill>
                  <a:srgbClr val="333333"/>
                </a:solidFill>
                <a:latin typeface="Segoe UI"/>
              </a:rPr>
              <a:t>4. Launch blog (2 posts/month)</a:t>
            </a:r>
          </a:p>
          <a:p>
            <a:pPr algn="l"/>
            <a:r>
              <a:rPr lang="en-US" sz="1000" b="0">
                <a:solidFill>
                  <a:srgbClr val="333333"/>
                </a:solidFill>
                <a:latin typeface="Segoe UI"/>
              </a:rPr>
              <a:t>5. Compress images &amp; enable caching</a:t>
            </a:r>
          </a:p>
          <a:p>
            <a:pPr algn="l"/>
            <a:r>
              <a:rPr lang="en-US" sz="1000" b="0">
                <a:solidFill>
                  <a:srgbClr val="333333"/>
                </a:solidFill>
                <a:latin typeface="Segoe UI"/>
              </a:rPr>
              <a:t>6. Add testimonials page</a:t>
            </a:r>
          </a:p>
          <a:p>
            <a:pPr algn="l"/>
            <a:r>
              <a:rPr lang="en-US" sz="1000" b="0">
                <a:solidFill>
                  <a:srgbClr val="333333"/>
                </a:solidFill>
                <a:latin typeface="Segoe UI"/>
              </a:rPr>
              <a:t>7. Weekly GMB posts with offers</a:t>
            </a:r>
          </a:p>
          <a:p>
            <a:pPr algn="l"/>
            <a:r>
              <a:rPr lang="en-US" sz="300" b="0">
                <a:solidFill>
                  <a:srgbClr val="1B2A4A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C41E3A"/>
                </a:solidFill>
                <a:latin typeface="Segoe UI"/>
              </a:rPr>
              <a:t>TARGET KEYWORDS: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windows calgary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window replacement calgary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energy efficient windows alberta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door installation calgary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vinyl windows near me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"/>
          <p:cNvSpPr/>
          <p:nvPr/>
        </p:nvSpPr>
        <p:spPr>
          <a:xfrm>
            <a:off x="0" y="0"/>
            <a:ext cx="12192000" cy="1005840"/>
          </a:xfrm>
          <a:prstGeom prst="rect"/>
          <a:solidFill>
            <a:srgbClr val="1B2A4A"/>
          </a:solidFill>
          <a:ln>
            <a:noFill/>
          </a:ln>
        </p:spPr>
      </p:sp>
      <p:sp>
        <p:nvSpPr>
          <p:cNvPr id="3" name="ht"/>
          <p:cNvSpPr txBox="1"/>
          <p:nvPr/>
        </p:nvSpPr>
        <p:spPr>
          <a:xfrm>
            <a:off x="457200" y="137160"/>
            <a:ext cx="9144000" cy="8229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900" b="1" dirty="0">
                <a:solidFill>
                  <a:srgbClr val="FFFFFF"/>
                </a:solidFill>
                <a:latin typeface="Segoe UI"/>
              </a:rPr>
              <a:t>03 | COMPETITOR ANALYSIS</a:t>
            </a:r>
          </a:p>
        </p:txBody>
      </p:sp>
      <p:sp>
        <p:nvSpPr>
          <p:cNvPr id="10" name="c_Lux Windows"/>
          <p:cNvSpPr/>
          <p:nvPr/>
        </p:nvSpPr>
        <p:spPr>
          <a:xfrm>
            <a:off x="365760" y="1280160"/>
            <a:ext cx="3291840" cy="1463040"/>
          </a:xfrm>
          <a:prstGeom prst="roundRect"/>
          <a:solidFill>
            <a:srgbClr val="C41E3A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Lux Windows</a:t>
            </a:r>
          </a:p>
          <a:p>
            <a:pPr algn="l"/>
            <a:r>
              <a:rPr lang="en-US" sz="850" b="0">
                <a:solidFill>
                  <a:srgbClr val="FFFFFF"/>
                </a:solidFill>
                <a:latin typeface="Segoe UI"/>
              </a:rPr>
              <a:t>Premium positioning, active social, video content, showroom experience</a:t>
            </a:r>
          </a:p>
        </p:txBody>
      </p:sp>
      <p:sp>
        <p:nvSpPr>
          <p:cNvPr id="10" name="c_All Weather"/>
          <p:cNvSpPr/>
          <p:nvPr/>
        </p:nvSpPr>
        <p:spPr>
          <a:xfrm>
            <a:off x="365760" y="2926080"/>
            <a:ext cx="3291840" cy="1463040"/>
          </a:xfrm>
          <a:prstGeom prst="roundRect"/>
          <a:solidFill>
            <a:srgbClr val="1D6B3F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All Weather</a:t>
            </a:r>
          </a:p>
          <a:p>
            <a:pPr algn="l"/>
            <a:r>
              <a:rPr lang="en-US" sz="850" b="0">
                <a:solidFill>
                  <a:srgbClr val="FFFFFF"/>
                </a:solidFill>
                <a:latin typeface="Segoe UI"/>
              </a:rPr>
              <a:t>10x Energy Star winner, strong blog/SEO, dealer network, Calgary+Edmonton</a:t>
            </a:r>
          </a:p>
        </p:txBody>
      </p:sp>
      <p:sp>
        <p:nvSpPr>
          <p:cNvPr id="10" name="c_Durabuilt"/>
          <p:cNvSpPr/>
          <p:nvPr/>
        </p:nvSpPr>
        <p:spPr>
          <a:xfrm>
            <a:off x="365760" y="4572000"/>
            <a:ext cx="3291840" cy="1463040"/>
          </a:xfrm>
          <a:prstGeom prst="roundRect"/>
          <a:solidFill>
            <a:srgbClr val="D4740E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Durabuilt</a:t>
            </a:r>
          </a:p>
          <a:p>
            <a:pPr algn="l"/>
            <a:r>
              <a:rPr lang="en-US" sz="850" b="0">
                <a:solidFill>
                  <a:srgbClr val="FFFFFF"/>
                </a:solidFill>
                <a:latin typeface="Segoe UI"/>
              </a:rPr>
              <a:t>Multi-city, design galleries, social channels, builder partnerships</a:t>
            </a:r>
          </a:p>
        </p:txBody>
      </p:sp>
      <p:sp>
        <p:nvSpPr>
          <p:cNvPr id="11" name="c2_JELD-WEN"/>
          <p:cNvSpPr/>
          <p:nvPr/>
        </p:nvSpPr>
        <p:spPr>
          <a:xfrm>
            <a:off x="3840480" y="1280160"/>
            <a:ext cx="3291840" cy="1463040"/>
          </a:xfrm>
          <a:prstGeom prst="roundRect"/>
          <a:solidFill>
            <a:srgbClr val="5B2D8E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JELD-WEN</a:t>
            </a:r>
          </a:p>
          <a:p>
            <a:pPr algn="l"/>
            <a:r>
              <a:rPr lang="en-US" sz="850" b="0">
                <a:solidFill>
                  <a:srgbClr val="FFFFFF"/>
                </a:solidFill>
                <a:latin typeface="Segoe UI"/>
              </a:rPr>
              <a:t>National brand, massive catalog, high domain authority, content machine</a:t>
            </a:r>
          </a:p>
        </p:txBody>
      </p:sp>
      <p:sp>
        <p:nvSpPr>
          <p:cNvPr id="11" name="c2_WindowMart"/>
          <p:cNvSpPr/>
          <p:nvPr/>
        </p:nvSpPr>
        <p:spPr>
          <a:xfrm>
            <a:off x="3840480" y="2926080"/>
            <a:ext cx="3291840" cy="1463040"/>
          </a:xfrm>
          <a:prstGeom prst="roundRect"/>
          <a:solidFill>
            <a:srgbClr val="2980B9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WindowMart</a:t>
            </a:r>
          </a:p>
          <a:p>
            <a:pPr algn="l"/>
            <a:r>
              <a:rPr lang="en-US" sz="850" b="0">
                <a:solidFill>
                  <a:srgbClr val="FFFFFF"/>
                </a:solidFill>
                <a:latin typeface="Segoe UI"/>
              </a:rPr>
              <a:t>Aggressive pricing, strong Google Ads, review generation, multiple locations</a:t>
            </a:r>
          </a:p>
        </p:txBody>
      </p:sp>
      <p:sp>
        <p:nvSpPr>
          <p:cNvPr id="11" name="c2_Windows Canada"/>
          <p:cNvSpPr/>
          <p:nvPr/>
        </p:nvSpPr>
        <p:spPr>
          <a:xfrm>
            <a:off x="3840480" y="4572000"/>
            <a:ext cx="3291840" cy="1463040"/>
          </a:xfrm>
          <a:prstGeom prst="roundRect"/>
          <a:solidFill>
            <a:srgbClr val="1ABC9C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Windows Canada</a:t>
            </a:r>
          </a:p>
          <a:p>
            <a:pPr algn="l"/>
            <a:r>
              <a:rPr lang="en-US" sz="850" b="0">
                <a:solidFill>
                  <a:srgbClr val="FFFFFF"/>
                </a:solidFill>
                <a:latin typeface="Segoe UI"/>
              </a:rPr>
              <a:t>Modern site, project galleries, financing, active blog, local SEO</a:t>
            </a:r>
          </a:p>
        </p:txBody>
      </p:sp>
      <p:sp>
        <p:nvSpPr>
          <p:cNvPr id="20" name="tk"/>
          <p:cNvSpPr/>
          <p:nvPr/>
        </p:nvSpPr>
        <p:spPr>
          <a:xfrm>
            <a:off x="7315200" y="1280160"/>
            <a:ext cx="3383280" cy="5120640"/>
          </a:xfrm>
          <a:prstGeom prst="roundRect"/>
          <a:solidFill>
            <a:srgbClr val="1B2A4A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100" b="1">
                <a:solidFill>
                  <a:srgbClr val="C41E3A"/>
                </a:solidFill>
                <a:latin typeface="Segoe UI"/>
              </a:rPr>
              <a:t>KEY GAPS</a:t>
            </a:r>
          </a:p>
          <a:p>
            <a:pPr algn="l"/>
            <a:r>
              <a:rPr lang="en-US" sz="2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Apollo lacks:</a:t>
            </a:r>
          </a:p>
          <a:p>
            <a:pPr algn="l"/>
            <a:r>
              <a:rPr lang="en-US" sz="900" b="0">
                <a:solidFill>
                  <a:srgbClr val="BDC3C7"/>
                </a:solidFill>
                <a:latin typeface="Segoe UI"/>
              </a:rPr>
              <a:t>Active blog content</a:t>
            </a:r>
          </a:p>
          <a:p>
            <a:pPr algn="l"/>
            <a:r>
              <a:rPr lang="en-US" sz="900" b="0">
                <a:solidFill>
                  <a:srgbClr val="BDC3C7"/>
                </a:solidFill>
                <a:latin typeface="Segoe UI"/>
              </a:rPr>
              <a:t>Video/Reels presence</a:t>
            </a:r>
          </a:p>
          <a:p>
            <a:pPr algn="l"/>
            <a:r>
              <a:rPr lang="en-US" sz="900" b="0">
                <a:solidFill>
                  <a:srgbClr val="BDC3C7"/>
                </a:solidFill>
                <a:latin typeface="Segoe UI"/>
              </a:rPr>
              <a:t>Project galleries</a:t>
            </a:r>
          </a:p>
          <a:p>
            <a:pPr algn="l"/>
            <a:r>
              <a:rPr lang="en-US" sz="900" b="0">
                <a:solidFill>
                  <a:srgbClr val="BDC3C7"/>
                </a:solidFill>
                <a:latin typeface="Segoe UI"/>
              </a:rPr>
              <a:t>Review generation system</a:t>
            </a:r>
          </a:p>
          <a:p>
            <a:pPr algn="l"/>
            <a:r>
              <a:rPr lang="en-US" sz="900" b="0">
                <a:solidFill>
                  <a:srgbClr val="BDC3C7"/>
                </a:solidFill>
                <a:latin typeface="Segoe UI"/>
              </a:rPr>
              <a:t>Social engagement</a:t>
            </a:r>
          </a:p>
          <a:p>
            <a:pPr algn="l"/>
            <a:r>
              <a:rPr lang="en-US" sz="900" b="0">
                <a:solidFill>
                  <a:srgbClr val="BDC3C7"/>
                </a:solidFill>
                <a:latin typeface="Segoe UI"/>
              </a:rPr>
              <a:t>Paid ads strategy</a:t>
            </a:r>
          </a:p>
          <a:p>
            <a:pPr algn="l"/>
            <a:r>
              <a:rPr lang="en-US" sz="3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2ECC71"/>
                </a:solidFill>
                <a:latin typeface="Segoe UI"/>
              </a:rPr>
              <a:t>OPPORTUNITY:</a:t>
            </a:r>
          </a:p>
          <a:p>
            <a:pPr algn="l"/>
            <a:r>
              <a:rPr lang="en-US" sz="900" b="0">
                <a:solidFill>
                  <a:srgbClr val="FFFFFF"/>
                </a:solidFill>
                <a:latin typeface="Segoe UI"/>
              </a:rPr>
              <a:t>Local trust + family</a:t>
            </a:r>
          </a:p>
          <a:p>
            <a:pPr algn="l"/>
            <a:r>
              <a:rPr lang="en-US" sz="900" b="0">
                <a:solidFill>
                  <a:srgbClr val="FFFFFF"/>
                </a:solidFill>
                <a:latin typeface="Segoe UI"/>
              </a:rPr>
              <a:t>story = differentiator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"/>
          <p:cNvSpPr/>
          <p:nvPr/>
        </p:nvSpPr>
        <p:spPr>
          <a:xfrm>
            <a:off x="0" y="0"/>
            <a:ext cx="12192000" cy="1005840"/>
          </a:xfrm>
          <a:prstGeom prst="rect"/>
          <a:solidFill>
            <a:srgbClr val="1B2A4A"/>
          </a:solidFill>
          <a:ln>
            <a:noFill/>
          </a:ln>
        </p:spPr>
      </p:sp>
      <p:sp>
        <p:nvSpPr>
          <p:cNvPr id="3" name="ht"/>
          <p:cNvSpPr txBox="1"/>
          <p:nvPr/>
        </p:nvSpPr>
        <p:spPr>
          <a:xfrm>
            <a:off x="457200" y="137160"/>
            <a:ext cx="9144000" cy="8229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900" b="1" dirty="0">
                <a:solidFill>
                  <a:srgbClr val="FFFFFF"/>
                </a:solidFill>
                <a:latin typeface="Segoe UI"/>
              </a:rPr>
              <a:t>04 | SOCIAL MEDIA AUDIT</a:t>
            </a:r>
          </a:p>
        </p:txBody>
      </p:sp>
      <p:sp>
        <p:nvSpPr>
          <p:cNvPr id="4" name="ig"/>
          <p:cNvSpPr/>
          <p:nvPr/>
        </p:nvSpPr>
        <p:spPr>
          <a:xfrm>
            <a:off x="365760" y="1280160"/>
            <a:ext cx="5120640" cy="5212080"/>
          </a:xfrm>
          <a:prstGeom prst="roundRect"/>
          <a:solidFill>
            <a:srgbClr val="FDEAED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150" b="1">
                <a:solidFill>
                  <a:srgbClr val="C41E3A"/>
                </a:solidFill>
                <a:latin typeface="Segoe UI"/>
              </a:rPr>
              <a:t>INSTAGRAM @apollowindowscalgary</a:t>
            </a:r>
          </a:p>
          <a:p>
            <a:pPr algn="l"/>
            <a:r>
              <a:rPr lang="en-US" sz="2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050" b="1">
                <a:solidFill>
                  <a:srgbClr val="333333"/>
                </a:solidFill>
                <a:latin typeface="Segoe UI"/>
              </a:rPr>
              <a:t>Current Status: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Low follower count &amp; engagement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Inconsistent posting frequency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Limited use of Reels/Stories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No hashtag strategy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Missing bio link optimization</a:t>
            </a:r>
          </a:p>
          <a:p>
            <a:pPr algn="l"/>
            <a:r>
              <a:rPr lang="en-US" sz="2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050" b="1">
                <a:solidFill>
                  <a:srgbClr val="C41E3A"/>
                </a:solidFill>
                <a:latin typeface="Segoe UI"/>
              </a:rPr>
              <a:t>Issues: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No content pillars defined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No community engagement loop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Product-only posts (no storytelling)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No user-generated content</a:t>
            </a:r>
          </a:p>
        </p:txBody>
      </p:sp>
      <p:sp>
        <p:nvSpPr>
          <p:cNvPr id="5" name="fb"/>
          <p:cNvSpPr/>
          <p:nvPr/>
        </p:nvSpPr>
        <p:spPr>
          <a:xfrm>
            <a:off x="5669280" y="1280160"/>
            <a:ext cx="4937760" cy="5212080"/>
          </a:xfrm>
          <a:prstGeom prst="roundRect"/>
          <a:solidFill>
            <a:srgbClr val="E8F4FD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150" b="1">
                <a:solidFill>
                  <a:srgbClr val="2980B9"/>
                </a:solidFill>
                <a:latin typeface="Segoe UI"/>
              </a:rPr>
              <a:t>FACEBOOK @apollowindowscalgary</a:t>
            </a:r>
          </a:p>
          <a:p>
            <a:pPr algn="l"/>
            <a:r>
              <a:rPr lang="en-US" sz="2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050" b="1">
                <a:solidFill>
                  <a:srgbClr val="333333"/>
                </a:solidFill>
                <a:latin typeface="Segoe UI"/>
              </a:rPr>
              <a:t>Current Status: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Page exists but underutilized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Low engagement rate on posts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Few customer reviews on page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No Facebook Events or Offers used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Limited community interaction</a:t>
            </a:r>
          </a:p>
          <a:p>
            <a:pPr algn="l"/>
            <a:r>
              <a:rPr lang="en-US" sz="2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050" b="1">
                <a:solidFill>
                  <a:srgbClr val="C41E3A"/>
                </a:solidFill>
                <a:latin typeface="Segoe UI"/>
              </a:rPr>
              <a:t>Issues: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No paid promotion strategy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Missing Facebook Shop/catalog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No video content or Lives</a:t>
            </a:r>
          </a:p>
          <a:p>
            <a:pPr algn="l"/>
            <a:r>
              <a:rPr lang="en-US" sz="1000" b="0">
                <a:solidFill>
                  <a:srgbClr val="555555"/>
                </a:solidFill>
                <a:latin typeface="Segoe UI"/>
              </a:rPr>
              <a:t>Inconsistent brand voice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"/>
          <p:cNvSpPr/>
          <p:nvPr/>
        </p:nvSpPr>
        <p:spPr>
          <a:xfrm>
            <a:off x="0" y="0"/>
            <a:ext cx="12192000" cy="1005840"/>
          </a:xfrm>
          <a:prstGeom prst="rect"/>
          <a:solidFill>
            <a:srgbClr val="1B2A4A"/>
          </a:solidFill>
          <a:ln>
            <a:noFill/>
          </a:ln>
        </p:spPr>
      </p:sp>
      <p:sp>
        <p:nvSpPr>
          <p:cNvPr id="3" name="ht"/>
          <p:cNvSpPr txBox="1"/>
          <p:nvPr/>
        </p:nvSpPr>
        <p:spPr>
          <a:xfrm>
            <a:off x="457200" y="137160"/>
            <a:ext cx="9144000" cy="8229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900" b="1" dirty="0">
                <a:solidFill>
                  <a:srgbClr val="FFFFFF"/>
                </a:solidFill>
                <a:latin typeface="Segoe UI"/>
              </a:rPr>
              <a:t>05 | OPPORTUNITIES &amp; QUICK WINS</a:t>
            </a:r>
          </a:p>
        </p:txBody>
      </p:sp>
      <p:sp>
        <p:nvSpPr>
          <p:cNvPr id="4" name="qw"/>
          <p:cNvSpPr/>
          <p:nvPr/>
        </p:nvSpPr>
        <p:spPr>
          <a:xfrm>
            <a:off x="365760" y="1280160"/>
            <a:ext cx="5120640" cy="2651760"/>
          </a:xfrm>
          <a:prstGeom prst="roundRect"/>
          <a:solidFill>
            <a:srgbClr val="1D6B3F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QUICK WINS (Week 1-2)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Optimize GMB profile completely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Fix website meta titles &amp; descriptions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Set up consistent posting schedule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Create branded hashtag set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Ask 10 past clients for Google reviews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Update Instagram bio + link tree</a:t>
            </a:r>
          </a:p>
        </p:txBody>
      </p:sp>
      <p:sp>
        <p:nvSpPr>
          <p:cNvPr id="5" name="sm"/>
          <p:cNvSpPr/>
          <p:nvPr/>
        </p:nvSpPr>
        <p:spPr>
          <a:xfrm>
            <a:off x="365760" y="4114800"/>
            <a:ext cx="5120640" cy="2377440"/>
          </a:xfrm>
          <a:prstGeom prst="roundRect"/>
          <a:solidFill>
            <a:srgbClr val="2980B9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SOCIAL MEDIA OPPORTUNITIES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Before/After project reveals (high engagement)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Behind-the-scenes manufacturing Reels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Calgary homeowner tips (seasonal)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Customer testimonial videos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Local partnership cross-promos</a:t>
            </a:r>
          </a:p>
        </p:txBody>
      </p:sp>
      <p:sp>
        <p:nvSpPr>
          <p:cNvPr id="6" name="gr"/>
          <p:cNvSpPr/>
          <p:nvPr/>
        </p:nvSpPr>
        <p:spPr>
          <a:xfrm>
            <a:off x="5669280" y="1280160"/>
            <a:ext cx="4937760" cy="5212080"/>
          </a:xfrm>
          <a:prstGeom prst="roundRect"/>
          <a:solidFill>
            <a:srgbClr val="D4740E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GROWTH OPPORTUNITIES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1">
                <a:solidFill>
                  <a:srgbClr val="FFFFFF"/>
                </a:solidFill>
                <a:latin typeface="Segoe UI"/>
              </a:rPr>
              <a:t>LOCAL SEO: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Rank for 'windows Calgary' keywords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Target neighbourhood-specific searches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Build local citation consistency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1">
                <a:solidFill>
                  <a:srgbClr val="FFFFFF"/>
                </a:solidFill>
                <a:latin typeface="Segoe UI"/>
              </a:rPr>
              <a:t>CONTENT: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Energy efficiency educational content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Seasonal maintenance guides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Product comparison guides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1">
                <a:solidFill>
                  <a:srgbClr val="FFFFFF"/>
                </a:solidFill>
                <a:latin typeface="Segoe UI"/>
              </a:rPr>
              <a:t>PARTNERSHIPS: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Local builders &amp; contractors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Home renovation influencers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Calgary real estate agents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"/>
          <p:cNvSpPr/>
          <p:nvPr/>
        </p:nvSpPr>
        <p:spPr>
          <a:xfrm>
            <a:off x="0" y="0"/>
            <a:ext cx="12192000" cy="1005840"/>
          </a:xfrm>
          <a:prstGeom prst="rect"/>
          <a:solidFill>
            <a:srgbClr val="1B2A4A"/>
          </a:solidFill>
          <a:ln>
            <a:noFill/>
          </a:ln>
        </p:spPr>
      </p:sp>
      <p:sp>
        <p:nvSpPr>
          <p:cNvPr id="3" name="ht"/>
          <p:cNvSpPr txBox="1"/>
          <p:nvPr/>
        </p:nvSpPr>
        <p:spPr>
          <a:xfrm>
            <a:off x="457200" y="137160"/>
            <a:ext cx="9144000" cy="8229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900" b="1" dirty="0">
                <a:solidFill>
                  <a:srgbClr val="FFFFFF"/>
                </a:solidFill>
                <a:latin typeface="Segoe UI"/>
              </a:rPr>
              <a:t>06 | CONTENT PLAN - MONTH 1 (Foundation)</a:t>
            </a:r>
          </a:p>
        </p:txBody>
      </p:sp>
      <p:sp>
        <p:nvSpPr>
          <p:cNvPr id="4" name="f"/>
          <p:cNvSpPr txBox="1"/>
          <p:nvPr/>
        </p:nvSpPr>
        <p:spPr>
          <a:xfrm>
            <a:off x="457200" y="1051560"/>
            <a:ext cx="10058400" cy="3657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150" b="1" dirty="0">
                <a:solidFill>
                  <a:srgbClr val="C41E3A"/>
                </a:solidFill>
                <a:latin typeface="Segoe UI"/>
              </a:rPr>
              <a:t>THEME: Build Foundation &amp; Brand Awareness | 3-4 posts/week</a:t>
            </a:r>
          </a:p>
        </p:txBody>
      </p:sp>
      <p:sp>
        <p:nvSpPr>
          <p:cNvPr id="5" name="w1"/>
          <p:cNvSpPr/>
          <p:nvPr/>
        </p:nvSpPr>
        <p:spPr>
          <a:xfrm>
            <a:off x="365760" y="1554480"/>
            <a:ext cx="5120640" cy="2194560"/>
          </a:xfrm>
          <a:prstGeom prst="roundRect"/>
          <a:solidFill>
            <a:srgbClr val="F4F6F8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100" b="1">
                <a:solidFill>
                  <a:srgbClr val="1B2A4A"/>
                </a:solidFill>
                <a:latin typeface="Segoe UI"/>
              </a:rPr>
              <a:t>WEEK 1-2: BRAND STORY</a:t>
            </a:r>
          </a:p>
          <a:p>
            <a:pPr algn="l"/>
            <a:r>
              <a:rPr lang="en-US" sz="1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Mon: Meet the Team (carousel)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Wed: Our Manufacturing Process (Reel)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Fri: Before/After Project #1 (carousel)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Sat: Customer Testimonial (Story)</a:t>
            </a:r>
          </a:p>
          <a:p>
            <a:pPr algn="l"/>
            <a:r>
              <a:rPr lang="en-US" sz="1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950" b="0">
                <a:solidFill>
                  <a:srgbClr val="2980B9"/>
                </a:solidFill>
                <a:latin typeface="Segoe UI"/>
              </a:rPr>
              <a:t>Blog: 'Why Choose a Local Manufacturer'</a:t>
            </a:r>
          </a:p>
        </p:txBody>
      </p:sp>
      <p:sp>
        <p:nvSpPr>
          <p:cNvPr id="6" name="w2"/>
          <p:cNvSpPr/>
          <p:nvPr/>
        </p:nvSpPr>
        <p:spPr>
          <a:xfrm>
            <a:off x="365760" y="3931920"/>
            <a:ext cx="5120640" cy="2194560"/>
          </a:xfrm>
          <a:prstGeom prst="roundRect"/>
          <a:solidFill>
            <a:srgbClr val="F4F6F8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100" b="1">
                <a:solidFill>
                  <a:srgbClr val="1B2A4A"/>
                </a:solidFill>
                <a:latin typeface="Segoe UI"/>
              </a:rPr>
              <a:t>WEEK 3-4: EDUCATION &amp; TRUST</a:t>
            </a:r>
          </a:p>
          <a:p>
            <a:pPr algn="l"/>
            <a:r>
              <a:rPr lang="en-US" sz="1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Mon: Energy Efficiency Tips (infographic)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Wed: Window Style Guide (carousel)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Fri: Before/After Project #2 (Reel)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Sat: FAQ Answer (Story poll)</a:t>
            </a:r>
          </a:p>
          <a:p>
            <a:pPr algn="l"/>
            <a:r>
              <a:rPr lang="en-US" sz="1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950" b="0">
                <a:solidFill>
                  <a:srgbClr val="2980B9"/>
                </a:solidFill>
                <a:latin typeface="Segoe UI"/>
              </a:rPr>
              <a:t>Blog: 'Calgary Winter Window Prep Guide'</a:t>
            </a:r>
          </a:p>
        </p:txBody>
      </p:sp>
      <p:sp>
        <p:nvSpPr>
          <p:cNvPr id="7" name="pil"/>
          <p:cNvSpPr/>
          <p:nvPr/>
        </p:nvSpPr>
        <p:spPr>
          <a:xfrm>
            <a:off x="5669280" y="1554480"/>
            <a:ext cx="4937760" cy="4572000"/>
          </a:xfrm>
          <a:prstGeom prst="roundRect"/>
          <a:solidFill>
            <a:srgbClr val="1B2A4A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C41E3A"/>
                </a:solidFill>
                <a:latin typeface="Segoe UI"/>
              </a:rPr>
              <a:t>CONTENT PILLARS</a:t>
            </a:r>
          </a:p>
          <a:p>
            <a:pPr algn="l"/>
            <a:r>
              <a:rPr lang="en-US" sz="2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0">
                <a:solidFill>
                  <a:srgbClr val="FFFFFF"/>
                </a:solidFill>
                <a:latin typeface="Segoe UI"/>
              </a:rPr>
              <a:t>1. Project Showcases (30%)</a:t>
            </a:r>
          </a:p>
          <a:p>
            <a:pPr algn="l"/>
            <a:r>
              <a:rPr lang="en-US" sz="900" b="0">
                <a:solidFill>
                  <a:srgbClr val="BDC3C7"/>
                </a:solidFill>
                <a:latin typeface="Segoe UI"/>
              </a:rPr>
              <a:t>   Before/after, time-lapses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0">
                <a:solidFill>
                  <a:srgbClr val="FFFFFF"/>
                </a:solidFill>
                <a:latin typeface="Segoe UI"/>
              </a:rPr>
              <a:t>2. Educational (25%)</a:t>
            </a:r>
          </a:p>
          <a:p>
            <a:pPr algn="l"/>
            <a:r>
              <a:rPr lang="en-US" sz="900" b="0">
                <a:solidFill>
                  <a:srgbClr val="BDC3C7"/>
                </a:solidFill>
                <a:latin typeface="Segoe UI"/>
              </a:rPr>
              <a:t>   Tips, guides, how-tos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0">
                <a:solidFill>
                  <a:srgbClr val="FFFFFF"/>
                </a:solidFill>
                <a:latin typeface="Segoe UI"/>
              </a:rPr>
              <a:t>3. Behind the Scenes (20%)</a:t>
            </a:r>
          </a:p>
          <a:p>
            <a:pPr algn="l"/>
            <a:r>
              <a:rPr lang="en-US" sz="900" b="0">
                <a:solidFill>
                  <a:srgbClr val="BDC3C7"/>
                </a:solidFill>
                <a:latin typeface="Segoe UI"/>
              </a:rPr>
              <a:t>   Manufacturing, team, process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0">
                <a:solidFill>
                  <a:srgbClr val="FFFFFF"/>
                </a:solidFill>
                <a:latin typeface="Segoe UI"/>
              </a:rPr>
              <a:t>4. Social Proof (15%)</a:t>
            </a:r>
          </a:p>
          <a:p>
            <a:pPr algn="l"/>
            <a:r>
              <a:rPr lang="en-US" sz="900" b="0">
                <a:solidFill>
                  <a:srgbClr val="BDC3C7"/>
                </a:solidFill>
                <a:latin typeface="Segoe UI"/>
              </a:rPr>
              <a:t>   Reviews, testimonials, awards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0">
                <a:solidFill>
                  <a:srgbClr val="FFFFFF"/>
                </a:solidFill>
                <a:latin typeface="Segoe UI"/>
              </a:rPr>
              <a:t>5. Community (10%)</a:t>
            </a:r>
          </a:p>
          <a:p>
            <a:pPr algn="l"/>
            <a:r>
              <a:rPr lang="en-US" sz="900" b="0">
                <a:solidFill>
                  <a:srgbClr val="BDC3C7"/>
                </a:solidFill>
                <a:latin typeface="Segoe UI"/>
              </a:rPr>
              <a:t>   Local events, partnerships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"/>
          <p:cNvSpPr/>
          <p:nvPr/>
        </p:nvSpPr>
        <p:spPr>
          <a:xfrm>
            <a:off x="0" y="0"/>
            <a:ext cx="12192000" cy="1005840"/>
          </a:xfrm>
          <a:prstGeom prst="rect"/>
          <a:solidFill>
            <a:srgbClr val="1B2A4A"/>
          </a:solidFill>
          <a:ln>
            <a:noFill/>
          </a:ln>
        </p:spPr>
      </p:sp>
      <p:sp>
        <p:nvSpPr>
          <p:cNvPr id="3" name="ht"/>
          <p:cNvSpPr txBox="1"/>
          <p:nvPr/>
        </p:nvSpPr>
        <p:spPr>
          <a:xfrm>
            <a:off x="457200" y="137160"/>
            <a:ext cx="9144000" cy="8229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900" b="1" dirty="0">
                <a:solidFill>
                  <a:srgbClr val="FFFFFF"/>
                </a:solidFill>
                <a:latin typeface="Segoe UI"/>
              </a:rPr>
              <a:t>06 | CONTENT PLAN - MONTH 2 (Engagement)</a:t>
            </a:r>
          </a:p>
        </p:txBody>
      </p:sp>
      <p:sp>
        <p:nvSpPr>
          <p:cNvPr id="4" name="f"/>
          <p:cNvSpPr txBox="1"/>
          <p:nvPr/>
        </p:nvSpPr>
        <p:spPr>
          <a:xfrm>
            <a:off x="457200" y="1051560"/>
            <a:ext cx="10058400" cy="3657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150" b="1" dirty="0">
                <a:solidFill>
                  <a:srgbClr val="C41E3A"/>
                </a:solidFill>
                <a:latin typeface="Segoe UI"/>
              </a:rPr>
              <a:t>THEME: Drive Engagement &amp; Community | 4-5 posts/week</a:t>
            </a:r>
          </a:p>
        </p:txBody>
      </p:sp>
      <p:sp>
        <p:nvSpPr>
          <p:cNvPr id="5" name="w5"/>
          <p:cNvSpPr/>
          <p:nvPr/>
        </p:nvSpPr>
        <p:spPr>
          <a:xfrm>
            <a:off x="365760" y="1554480"/>
            <a:ext cx="5120640" cy="2194560"/>
          </a:xfrm>
          <a:prstGeom prst="roundRect"/>
          <a:solidFill>
            <a:srgbClr val="F4F6F8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100" b="1">
                <a:solidFill>
                  <a:srgbClr val="1B2A4A"/>
                </a:solidFill>
                <a:latin typeface="Segoe UI"/>
              </a:rPr>
              <a:t>WEEK 5-6: ENGAGEMENT BOOST</a:t>
            </a:r>
          </a:p>
          <a:p>
            <a:pPr algn="l"/>
            <a:r>
              <a:rPr lang="en-US" sz="1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Mon: 'Guess the Window Style' (poll)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Tue: Installation Day Reel (timelapse)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Thu: Homeowner Spotlight (interview)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Fri: Product Close-up (carousel)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Sat: Weekend DIY tip (Story)</a:t>
            </a:r>
          </a:p>
          <a:p>
            <a:pPr algn="l"/>
            <a:r>
              <a:rPr lang="en-US" sz="1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950" b="0">
                <a:solidFill>
                  <a:srgbClr val="2980B9"/>
                </a:solidFill>
                <a:latin typeface="Segoe UI"/>
              </a:rPr>
              <a:t>Blog: 'Triple vs Double Pane: Calgary Guide'</a:t>
            </a:r>
          </a:p>
        </p:txBody>
      </p:sp>
      <p:sp>
        <p:nvSpPr>
          <p:cNvPr id="6" name="w7"/>
          <p:cNvSpPr/>
          <p:nvPr/>
        </p:nvSpPr>
        <p:spPr>
          <a:xfrm>
            <a:off x="365760" y="3931920"/>
            <a:ext cx="5120640" cy="2194560"/>
          </a:xfrm>
          <a:prstGeom prst="roundRect"/>
          <a:solidFill>
            <a:srgbClr val="F4F6F8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100" b="1">
                <a:solidFill>
                  <a:srgbClr val="1B2A4A"/>
                </a:solidFill>
                <a:latin typeface="Segoe UI"/>
              </a:rPr>
              <a:t>WEEK 7-8: SEASONAL &amp; LOCAL</a:t>
            </a:r>
          </a:p>
          <a:p>
            <a:pPr algn="l"/>
            <a:r>
              <a:rPr lang="en-US" sz="1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Mon: 'Calgary Weather vs Our Windows' (Reel)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Wed: Local Builder Partnership Feature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Thu: Energy Savings Calculator Post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Fri: Project Reveal (Reel + carousel)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Sat: Customer review highlight</a:t>
            </a:r>
          </a:p>
          <a:p>
            <a:pPr algn="l"/>
            <a:r>
              <a:rPr lang="en-US" sz="1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950" b="0">
                <a:solidFill>
                  <a:srgbClr val="2980B9"/>
                </a:solidFill>
                <a:latin typeface="Segoe UI"/>
              </a:rPr>
              <a:t>Blog: '5 Signs You Need Window Replacement'</a:t>
            </a:r>
          </a:p>
        </p:txBody>
      </p:sp>
      <p:sp>
        <p:nvSpPr>
          <p:cNvPr id="7" name="cr"/>
          <p:cNvSpPr/>
          <p:nvPr/>
        </p:nvSpPr>
        <p:spPr>
          <a:xfrm>
            <a:off x="5669280" y="1554480"/>
            <a:ext cx="4937760" cy="4572000"/>
          </a:xfrm>
          <a:prstGeom prst="roundRect"/>
          <a:solidFill>
            <a:srgbClr val="5B2D8E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CREATIVE CONTENT IDEAS</a:t>
            </a:r>
          </a:p>
          <a:p>
            <a:pPr algn="l"/>
            <a:r>
              <a:rPr lang="en-US" sz="2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0">
                <a:solidFill>
                  <a:srgbClr val="FFFFFF"/>
                </a:solidFill>
                <a:latin typeface="Segoe UI"/>
              </a:rPr>
              <a:t>'Window Transformation Tuesday'</a:t>
            </a:r>
          </a:p>
          <a:p>
            <a:pPr algn="l"/>
            <a:r>
              <a:rPr lang="en-US" sz="900" b="0">
                <a:solidFill>
                  <a:srgbClr val="E8D5F5"/>
                </a:solidFill>
                <a:latin typeface="Segoe UI"/>
              </a:rPr>
              <a:t>   Weekly series - project reveals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0">
                <a:solidFill>
                  <a:srgbClr val="FFFFFF"/>
                </a:solidFill>
                <a:latin typeface="Segoe UI"/>
              </a:rPr>
              <a:t>'Ask Apollo' Q&amp;A Stories</a:t>
            </a:r>
          </a:p>
          <a:p>
            <a:pPr algn="l"/>
            <a:r>
              <a:rPr lang="en-US" sz="900" b="0">
                <a:solidFill>
                  <a:srgbClr val="E8D5F5"/>
                </a:solidFill>
                <a:latin typeface="Segoe UI"/>
              </a:rPr>
              <a:t>   Answer homeowner questions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0">
                <a:solidFill>
                  <a:srgbClr val="FFFFFF"/>
                </a:solidFill>
                <a:latin typeface="Segoe UI"/>
              </a:rPr>
              <a:t>'Made in Calgary' Series</a:t>
            </a:r>
          </a:p>
          <a:p>
            <a:pPr algn="l"/>
            <a:r>
              <a:rPr lang="en-US" sz="900" b="0">
                <a:solidFill>
                  <a:srgbClr val="E8D5F5"/>
                </a:solidFill>
                <a:latin typeface="Segoe UI"/>
              </a:rPr>
              <a:t>   Show local manufacturing pride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0">
                <a:solidFill>
                  <a:srgbClr val="FFFFFF"/>
                </a:solidFill>
                <a:latin typeface="Segoe UI"/>
              </a:rPr>
              <a:t>'Energy Bill Challenge'</a:t>
            </a:r>
          </a:p>
          <a:p>
            <a:pPr algn="l"/>
            <a:r>
              <a:rPr lang="en-US" sz="900" b="0">
                <a:solidFill>
                  <a:srgbClr val="E8D5F5"/>
                </a:solidFill>
                <a:latin typeface="Segoe UI"/>
              </a:rPr>
              <a:t>   Before/after energy savings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0">
                <a:solidFill>
                  <a:srgbClr val="FFFFFF"/>
                </a:solidFill>
                <a:latin typeface="Segoe UI"/>
              </a:rPr>
              <a:t>'Meet Your Installer' Reels</a:t>
            </a:r>
          </a:p>
          <a:p>
            <a:pPr algn="l"/>
            <a:r>
              <a:rPr lang="en-US" sz="900" b="0">
                <a:solidFill>
                  <a:srgbClr val="E8D5F5"/>
                </a:solidFill>
                <a:latin typeface="Segoe UI"/>
              </a:rPr>
              <a:t>   Humanize the brand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"/>
          <p:cNvSpPr/>
          <p:nvPr/>
        </p:nvSpPr>
        <p:spPr>
          <a:xfrm>
            <a:off x="0" y="0"/>
            <a:ext cx="12192000" cy="1005840"/>
          </a:xfrm>
          <a:prstGeom prst="rect"/>
          <a:solidFill>
            <a:srgbClr val="1B2A4A"/>
          </a:solidFill>
          <a:ln>
            <a:noFill/>
          </a:ln>
        </p:spPr>
      </p:sp>
      <p:sp>
        <p:nvSpPr>
          <p:cNvPr id="3" name="ht"/>
          <p:cNvSpPr txBox="1"/>
          <p:nvPr/>
        </p:nvSpPr>
        <p:spPr>
          <a:xfrm>
            <a:off x="457200" y="137160"/>
            <a:ext cx="9144000" cy="8229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900" b="1" dirty="0">
                <a:solidFill>
                  <a:srgbClr val="FFFFFF"/>
                </a:solidFill>
                <a:latin typeface="Segoe UI"/>
              </a:rPr>
              <a:t>06 | CONTENT PLAN - MONTH 3 (Conversion)</a:t>
            </a:r>
          </a:p>
        </p:txBody>
      </p:sp>
      <p:sp>
        <p:nvSpPr>
          <p:cNvPr id="4" name="f"/>
          <p:cNvSpPr txBox="1"/>
          <p:nvPr/>
        </p:nvSpPr>
        <p:spPr>
          <a:xfrm>
            <a:off x="457200" y="1051560"/>
            <a:ext cx="10058400" cy="3657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150" b="1" dirty="0">
                <a:solidFill>
                  <a:srgbClr val="C41E3A"/>
                </a:solidFill>
                <a:latin typeface="Segoe UI"/>
              </a:rPr>
              <a:t>THEME: Convert Followers to Leads | 4-5 posts/week + daily Stories</a:t>
            </a:r>
          </a:p>
        </p:txBody>
      </p:sp>
      <p:sp>
        <p:nvSpPr>
          <p:cNvPr id="5" name="w9"/>
          <p:cNvSpPr/>
          <p:nvPr/>
        </p:nvSpPr>
        <p:spPr>
          <a:xfrm>
            <a:off x="365760" y="1554480"/>
            <a:ext cx="5120640" cy="2194560"/>
          </a:xfrm>
          <a:prstGeom prst="roundRect"/>
          <a:solidFill>
            <a:srgbClr val="F4F6F8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100" b="1">
                <a:solidFill>
                  <a:srgbClr val="1B2A4A"/>
                </a:solidFill>
                <a:latin typeface="Segoe UI"/>
              </a:rPr>
              <a:t>WEEK 9-10: SOCIAL PROOF &amp; OFFERS</a:t>
            </a:r>
          </a:p>
          <a:p>
            <a:pPr algn="l"/>
            <a:r>
              <a:rPr lang="en-US" sz="1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Mon: Customer Story Video (Reel)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Tue: Limited-Time Offer Graphic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Thu: '25 Years of Craftsmanship' carousel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Fri: Side-by-side comparison post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Sat: Free consultation CTA Story</a:t>
            </a:r>
          </a:p>
          <a:p>
            <a:pPr algn="l"/>
            <a:r>
              <a:rPr lang="en-US" sz="1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950" b="0">
                <a:solidFill>
                  <a:srgbClr val="2980B9"/>
                </a:solidFill>
                <a:latin typeface="Segoe UI"/>
              </a:rPr>
              <a:t>Blog: 'How to Choose the Right Windows'</a:t>
            </a:r>
          </a:p>
        </p:txBody>
      </p:sp>
      <p:sp>
        <p:nvSpPr>
          <p:cNvPr id="6" name="w11"/>
          <p:cNvSpPr/>
          <p:nvPr/>
        </p:nvSpPr>
        <p:spPr>
          <a:xfrm>
            <a:off x="365760" y="3931920"/>
            <a:ext cx="5120640" cy="2194560"/>
          </a:xfrm>
          <a:prstGeom prst="roundRect"/>
          <a:solidFill>
            <a:srgbClr val="F4F6F8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100" b="1">
                <a:solidFill>
                  <a:srgbClr val="1B2A4A"/>
                </a:solidFill>
                <a:latin typeface="Segoe UI"/>
              </a:rPr>
              <a:t>WEEK 11-12: LEAD GENERATION</a:t>
            </a:r>
          </a:p>
          <a:p>
            <a:pPr algn="l"/>
            <a:r>
              <a:rPr lang="en-US" sz="1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Mon: Project Portfolio Reel (best work)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Wed: 'Why Apollo' comparison post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Thu: Financing options infographic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Fri: End-of-quarter celebration</a:t>
            </a:r>
          </a:p>
          <a:p>
            <a:pPr algn="l"/>
            <a:r>
              <a:rPr lang="en-US" sz="950" b="0">
                <a:solidFill>
                  <a:srgbClr val="333333"/>
                </a:solidFill>
                <a:latin typeface="Segoe UI"/>
              </a:rPr>
              <a:t>Sat: 'Book Your Free Quote' CTA</a:t>
            </a:r>
          </a:p>
          <a:p>
            <a:pPr algn="l"/>
            <a:r>
              <a:rPr lang="en-US" sz="1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950" b="0">
                <a:solidFill>
                  <a:srgbClr val="2980B9"/>
                </a:solidFill>
                <a:latin typeface="Segoe UI"/>
              </a:rPr>
              <a:t>Blog: 'Window ROI for Calgary Homeowners'</a:t>
            </a:r>
          </a:p>
        </p:txBody>
      </p:sp>
      <p:sp>
        <p:nvSpPr>
          <p:cNvPr id="7" name="conv"/>
          <p:cNvSpPr/>
          <p:nvPr/>
        </p:nvSpPr>
        <p:spPr>
          <a:xfrm>
            <a:off x="5669280" y="1554480"/>
            <a:ext cx="4937760" cy="4572000"/>
          </a:xfrm>
          <a:prstGeom prst="roundRect"/>
          <a:solidFill>
            <a:srgbClr val="C41E3A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CONVERSION TACTICS</a:t>
            </a:r>
          </a:p>
          <a:p>
            <a:pPr algn="l"/>
            <a:r>
              <a:rPr lang="en-US" sz="2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1">
                <a:solidFill>
                  <a:srgbClr val="FFFFFF"/>
                </a:solidFill>
                <a:latin typeface="Segoe UI"/>
              </a:rPr>
              <a:t>Lead Magnets:</a:t>
            </a:r>
          </a:p>
          <a:p>
            <a:pPr algn="l"/>
            <a:r>
              <a:rPr lang="en-US" sz="950" b="0">
                <a:solidFill>
                  <a:srgbClr val="FFDDD5"/>
                </a:solidFill>
                <a:latin typeface="Segoe UI"/>
              </a:rPr>
              <a:t>Free Window Style Guide PDF</a:t>
            </a:r>
          </a:p>
          <a:p>
            <a:pPr algn="l"/>
            <a:r>
              <a:rPr lang="en-US" sz="950" b="0">
                <a:solidFill>
                  <a:srgbClr val="FFDDD5"/>
                </a:solidFill>
                <a:latin typeface="Segoe UI"/>
              </a:rPr>
              <a:t>Energy Savings Calculator</a:t>
            </a:r>
          </a:p>
          <a:p>
            <a:pPr algn="l"/>
            <a:r>
              <a:rPr lang="en-US" sz="950" b="0">
                <a:solidFill>
                  <a:srgbClr val="FFDDD5"/>
                </a:solidFill>
                <a:latin typeface="Segoe UI"/>
              </a:rPr>
              <a:t>Free In-Home Consultation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1">
                <a:solidFill>
                  <a:srgbClr val="FFFFFF"/>
                </a:solidFill>
                <a:latin typeface="Segoe UI"/>
              </a:rPr>
              <a:t>CTA Strategies:</a:t>
            </a:r>
          </a:p>
          <a:p>
            <a:pPr algn="l"/>
            <a:r>
              <a:rPr lang="en-US" sz="950" b="0">
                <a:solidFill>
                  <a:srgbClr val="FFDDD5"/>
                </a:solidFill>
                <a:latin typeface="Segoe UI"/>
              </a:rPr>
              <a:t>Story swipe-up to quote form</a:t>
            </a:r>
          </a:p>
          <a:p>
            <a:pPr algn="l"/>
            <a:r>
              <a:rPr lang="en-US" sz="950" b="0">
                <a:solidFill>
                  <a:srgbClr val="FFDDD5"/>
                </a:solidFill>
                <a:latin typeface="Segoe UI"/>
              </a:rPr>
              <a:t>Bio link to booking page</a:t>
            </a:r>
          </a:p>
          <a:p>
            <a:pPr algn="l"/>
            <a:r>
              <a:rPr lang="en-US" sz="950" b="0">
                <a:solidFill>
                  <a:srgbClr val="FFDDD5"/>
                </a:solidFill>
                <a:latin typeface="Segoe UI"/>
              </a:rPr>
              <a:t>DM automation for inquiries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50" b="1">
                <a:solidFill>
                  <a:srgbClr val="FFFFFF"/>
                </a:solidFill>
                <a:latin typeface="Segoe UI"/>
              </a:rPr>
              <a:t>Retargeting:</a:t>
            </a:r>
          </a:p>
          <a:p>
            <a:pPr algn="l"/>
            <a:r>
              <a:rPr lang="en-US" sz="950" b="0">
                <a:solidFill>
                  <a:srgbClr val="FFDDD5"/>
                </a:solidFill>
                <a:latin typeface="Segoe UI"/>
              </a:rPr>
              <a:t>Website visitors &gt; social ads</a:t>
            </a:r>
          </a:p>
          <a:p>
            <a:pPr algn="l"/>
            <a:r>
              <a:rPr lang="en-US" sz="950" b="0">
                <a:solidFill>
                  <a:srgbClr val="FFDDD5"/>
                </a:solidFill>
                <a:latin typeface="Segoe UI"/>
              </a:rPr>
              <a:t>Engaged audience &gt; offers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"/>
          <p:cNvSpPr/>
          <p:nvPr/>
        </p:nvSpPr>
        <p:spPr>
          <a:xfrm>
            <a:off x="0" y="0"/>
            <a:ext cx="12192000" cy="1005840"/>
          </a:xfrm>
          <a:prstGeom prst="rect"/>
          <a:solidFill>
            <a:srgbClr val="1B2A4A"/>
          </a:solidFill>
          <a:ln>
            <a:noFill/>
          </a:ln>
        </p:spPr>
      </p:sp>
      <p:sp>
        <p:nvSpPr>
          <p:cNvPr id="3" name="ht"/>
          <p:cNvSpPr txBox="1"/>
          <p:nvPr/>
        </p:nvSpPr>
        <p:spPr>
          <a:xfrm>
            <a:off x="457200" y="137160"/>
            <a:ext cx="9144000" cy="8229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900" b="1" dirty="0">
                <a:solidFill>
                  <a:srgbClr val="FFFFFF"/>
                </a:solidFill>
                <a:latin typeface="Segoe UI"/>
              </a:rPr>
              <a:t>07 | ADS STRATEGY - $300 USD/MONTH BREAKDOWN</a:t>
            </a:r>
          </a:p>
        </p:txBody>
      </p:sp>
      <p:sp>
        <p:nvSpPr>
          <p:cNvPr id="4" name="pv"/>
          <p:cNvSpPr/>
          <p:nvPr/>
        </p:nvSpPr>
        <p:spPr>
          <a:xfrm>
            <a:off x="365760" y="1280160"/>
            <a:ext cx="5120640" cy="2926080"/>
          </a:xfrm>
          <a:prstGeom prst="roundRect"/>
          <a:solidFill>
            <a:srgbClr val="2980B9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PROFILE VISITING ADS - $200/month</a:t>
            </a:r>
          </a:p>
          <a:p>
            <a:pPr algn="l"/>
            <a:r>
              <a:rPr lang="en-US" sz="2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Objective: Profile Visits / Audience Building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Goal: Build relevant local audience base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Targeting:</a:t>
            </a:r>
          </a:p>
          <a:p>
            <a:pPr algn="l"/>
            <a:r>
              <a:rPr lang="en-US" sz="950" b="0">
                <a:solidFill>
                  <a:srgbClr val="D6EAF8"/>
                </a:solidFill>
                <a:latin typeface="Segoe UI"/>
              </a:rPr>
              <a:t>Calgary homeowners, age 30-65</a:t>
            </a:r>
          </a:p>
          <a:p>
            <a:pPr algn="l"/>
            <a:r>
              <a:rPr lang="en-US" sz="950" b="0">
                <a:solidFill>
                  <a:srgbClr val="D6EAF8"/>
                </a:solidFill>
                <a:latin typeface="Segoe UI"/>
              </a:rPr>
              <a:t>Interests: Home improvement, renovation</a:t>
            </a:r>
          </a:p>
          <a:p>
            <a:pPr algn="l"/>
            <a:r>
              <a:rPr lang="en-US" sz="950" b="0">
                <a:solidFill>
                  <a:srgbClr val="D6EAF8"/>
                </a:solidFill>
                <a:latin typeface="Segoe UI"/>
              </a:rPr>
              <a:t>Radius: Calgary + 50km surrounding</a:t>
            </a:r>
          </a:p>
          <a:p>
            <a:pPr algn="l"/>
            <a:r>
              <a:rPr lang="en-US" sz="950" b="0">
                <a:solidFill>
                  <a:srgbClr val="D6EAF8"/>
                </a:solidFill>
                <a:latin typeface="Segoe UI"/>
              </a:rPr>
              <a:t>Lookalike: Similar to existing customers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Realistic Goal: +150-250 new followers/month</a:t>
            </a:r>
          </a:p>
        </p:txBody>
      </p:sp>
      <p:sp>
        <p:nvSpPr>
          <p:cNvPr id="5" name="pe"/>
          <p:cNvSpPr/>
          <p:nvPr/>
        </p:nvSpPr>
        <p:spPr>
          <a:xfrm>
            <a:off x="365760" y="4389120"/>
            <a:ext cx="5120640" cy="2103120"/>
          </a:xfrm>
          <a:prstGeom prst="roundRect"/>
          <a:solidFill>
            <a:srgbClr val="1D6B3F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POST ENGAGEMENT ADS - $100/month</a:t>
            </a:r>
          </a:p>
          <a:p>
            <a:pPr algn="l"/>
            <a:r>
              <a:rPr lang="en-US" sz="2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Objective: Post Engagement</a:t>
            </a:r>
          </a:p>
          <a:p>
            <a:pPr algn="l"/>
            <a:r>
              <a:rPr lang="en-US" sz="1000" b="0">
                <a:solidFill>
                  <a:srgbClr val="FFFFFF"/>
                </a:solidFill>
                <a:latin typeface="Segoe UI"/>
              </a:rPr>
              <a:t>Goal: Let relevant audience connect with content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Best Content to Boost:</a:t>
            </a:r>
          </a:p>
          <a:p>
            <a:pPr algn="l"/>
            <a:r>
              <a:rPr lang="en-US" sz="950" b="0">
                <a:solidFill>
                  <a:srgbClr val="D5F5E3"/>
                </a:solidFill>
                <a:latin typeface="Segoe UI"/>
              </a:rPr>
              <a:t>Before/After carousels, Reels, Testimonials</a:t>
            </a:r>
          </a:p>
          <a:p>
            <a:pPr algn="l"/>
            <a:r>
              <a:rPr lang="en-US" sz="950" b="0">
                <a:solidFill>
                  <a:srgbClr val="D5F5E3"/>
                </a:solidFill>
                <a:latin typeface="Segoe UI"/>
              </a:rPr>
              <a:t>Boost top 1-2 performing posts weekly</a:t>
            </a:r>
          </a:p>
        </p:txBody>
      </p:sp>
      <p:sp>
        <p:nvSpPr>
          <p:cNvPr id="6" name="cal"/>
          <p:cNvSpPr/>
          <p:nvPr/>
        </p:nvSpPr>
        <p:spPr>
          <a:xfrm>
            <a:off x="5669280" y="1280160"/>
            <a:ext cx="4937760" cy="5212080"/>
          </a:xfrm>
          <a:prstGeom prst="roundRect"/>
          <a:solidFill>
            <a:srgbClr val="F4F6F8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1B2A4A"/>
                </a:solidFill>
                <a:latin typeface="Segoe UI"/>
              </a:rPr>
              <a:t>3-MONTH AD CALENDAR</a:t>
            </a:r>
          </a:p>
          <a:p>
            <a:pPr algn="l"/>
            <a:r>
              <a:rPr lang="en-US" sz="2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050" b="1">
                <a:solidFill>
                  <a:srgbClr val="C41E3A"/>
                </a:solidFill>
                <a:latin typeface="Segoe UI"/>
              </a:rPr>
              <a:t>MONTH 1 ($300):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$200 - Profile visits (audience building)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$100 - Boost brand story posts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Focus: Awareness + first followers</a:t>
            </a:r>
          </a:p>
          <a:p>
            <a:pPr algn="l"/>
            <a:r>
              <a:rPr lang="en-US" sz="20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050" b="1">
                <a:solidFill>
                  <a:srgbClr val="D4740E"/>
                </a:solidFill>
                <a:latin typeface="Segoe UI"/>
              </a:rPr>
              <a:t>MONTH 2 ($300):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$200 - Profile visits (refine targeting)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$100 - Boost Reels + testimonials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Focus: Engagement + video views</a:t>
            </a:r>
          </a:p>
          <a:p>
            <a:pPr algn="l"/>
            <a:r>
              <a:rPr lang="en-US" sz="20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050" b="1">
                <a:solidFill>
                  <a:srgbClr val="1D6B3F"/>
                </a:solidFill>
                <a:latin typeface="Segoe UI"/>
              </a:rPr>
              <a:t>MONTH 3 ($300):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$200 - Profile visits (lookalike audience)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$100 - Boost offer/CTA posts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Focus: Warm audience + conversions</a:t>
            </a:r>
          </a:p>
          <a:p>
            <a:pPr algn="l"/>
            <a:r>
              <a:rPr lang="en-US" sz="2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100" b="1">
                <a:solidFill>
                  <a:srgbClr val="1B2A4A"/>
                </a:solidFill>
                <a:latin typeface="Segoe UI"/>
              </a:rPr>
              <a:t>TOTAL 3-MONTH AD SPEND: $900 USD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"/>
          <p:cNvSpPr/>
          <p:nvPr/>
        </p:nvSpPr>
        <p:spPr>
          <a:xfrm>
            <a:off x="0" y="0"/>
            <a:ext cx="12192000" cy="1005840"/>
          </a:xfrm>
          <a:prstGeom prst="rect"/>
          <a:solidFill>
            <a:srgbClr val="1B2A4A"/>
          </a:solidFill>
          <a:ln>
            <a:noFill/>
          </a:ln>
        </p:spPr>
      </p:sp>
      <p:sp>
        <p:nvSpPr>
          <p:cNvPr id="3" name="ht"/>
          <p:cNvSpPr txBox="1"/>
          <p:nvPr/>
        </p:nvSpPr>
        <p:spPr>
          <a:xfrm>
            <a:off x="457200" y="137160"/>
            <a:ext cx="9144000" cy="8229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900" b="1" dirty="0">
                <a:solidFill>
                  <a:srgbClr val="FFFFFF"/>
                </a:solidFill>
                <a:latin typeface="Segoe UI"/>
              </a:rPr>
              <a:t>08 | MONTH-BY-MONTH ROADMAP</a:t>
            </a:r>
          </a:p>
        </p:txBody>
      </p:sp>
      <p:sp>
        <p:nvSpPr>
          <p:cNvPr id="4" name="m1"/>
          <p:cNvSpPr/>
          <p:nvPr/>
        </p:nvSpPr>
        <p:spPr>
          <a:xfrm>
            <a:off x="274320" y="1280160"/>
            <a:ext cx="3383280" cy="5212080"/>
          </a:xfrm>
          <a:prstGeom prst="roundRect"/>
          <a:solidFill>
            <a:srgbClr val="C41E3A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</a:rPr>
              <a:t>MONTH 1</a:t>
            </a:r>
          </a:p>
          <a:p>
            <a:pPr algn="l"/>
            <a:r>
              <a:rPr lang="en-US" sz="1100" b="0">
                <a:solidFill>
                  <a:srgbClr val="FFDDD5"/>
                </a:solidFill>
                <a:latin typeface="Segoe UI"/>
              </a:rPr>
              <a:t>FOUNDATION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Website:</a:t>
            </a:r>
          </a:p>
          <a:p>
            <a:pPr algn="l"/>
            <a:r>
              <a:rPr lang="en-US" sz="900" b="0">
                <a:solidFill>
                  <a:srgbClr val="FFDDD5"/>
                </a:solidFill>
                <a:latin typeface="Segoe UI"/>
              </a:rPr>
              <a:t>Meta tags optimization</a:t>
            </a:r>
          </a:p>
          <a:p>
            <a:pPr algn="l"/>
            <a:r>
              <a:rPr lang="en-US" sz="900" b="0">
                <a:solidFill>
                  <a:srgbClr val="FFDDD5"/>
                </a:solidFill>
                <a:latin typeface="Segoe UI"/>
              </a:rPr>
              <a:t>Schema markup added</a:t>
            </a:r>
          </a:p>
          <a:p>
            <a:pPr algn="l"/>
            <a:r>
              <a:rPr lang="en-US" sz="900" b="0">
                <a:solidFill>
                  <a:srgbClr val="FFDDD5"/>
                </a:solidFill>
                <a:latin typeface="Segoe UI"/>
              </a:rPr>
              <a:t>Speed optimization</a:t>
            </a:r>
          </a:p>
          <a:p>
            <a:pPr algn="l"/>
            <a:r>
              <a:rPr lang="en-US" sz="1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Social:</a:t>
            </a:r>
          </a:p>
          <a:p>
            <a:pPr algn="l"/>
            <a:r>
              <a:rPr lang="en-US" sz="900" b="0">
                <a:solidFill>
                  <a:srgbClr val="FFDDD5"/>
                </a:solidFill>
                <a:latin typeface="Segoe UI"/>
              </a:rPr>
              <a:t>Profile optimization</a:t>
            </a:r>
          </a:p>
          <a:p>
            <a:pPr algn="l"/>
            <a:r>
              <a:rPr lang="en-US" sz="900" b="0">
                <a:solidFill>
                  <a:srgbClr val="FFDDD5"/>
                </a:solidFill>
                <a:latin typeface="Segoe UI"/>
              </a:rPr>
              <a:t>Content pillars set</a:t>
            </a:r>
          </a:p>
          <a:p>
            <a:pPr algn="l"/>
            <a:r>
              <a:rPr lang="en-US" sz="900" b="0">
                <a:solidFill>
                  <a:srgbClr val="FFDDD5"/>
                </a:solidFill>
                <a:latin typeface="Segoe UI"/>
              </a:rPr>
              <a:t>3-4 posts/week start</a:t>
            </a:r>
          </a:p>
          <a:p>
            <a:pPr algn="l"/>
            <a:r>
              <a:rPr lang="en-US" sz="1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GMB:</a:t>
            </a:r>
          </a:p>
          <a:p>
            <a:pPr algn="l"/>
            <a:r>
              <a:rPr lang="en-US" sz="900" b="0">
                <a:solidFill>
                  <a:srgbClr val="FFDDD5"/>
                </a:solidFill>
                <a:latin typeface="Segoe UI"/>
              </a:rPr>
              <a:t>Full optimization</a:t>
            </a:r>
          </a:p>
          <a:p>
            <a:pPr algn="l"/>
            <a:r>
              <a:rPr lang="en-US" sz="900" b="0">
                <a:solidFill>
                  <a:srgbClr val="FFDDD5"/>
                </a:solidFill>
                <a:latin typeface="Segoe UI"/>
              </a:rPr>
              <a:t>Weekly posts begin</a:t>
            </a:r>
          </a:p>
          <a:p>
            <a:pPr algn="l"/>
            <a:r>
              <a:rPr lang="en-US" sz="900" b="0">
                <a:solidFill>
                  <a:srgbClr val="FFDDD5"/>
                </a:solidFill>
                <a:latin typeface="Segoe UI"/>
              </a:rPr>
              <a:t>Review campaign start</a:t>
            </a:r>
          </a:p>
        </p:txBody>
      </p:sp>
      <p:sp>
        <p:nvSpPr>
          <p:cNvPr id="5" name="m2"/>
          <p:cNvSpPr/>
          <p:nvPr/>
        </p:nvSpPr>
        <p:spPr>
          <a:xfrm>
            <a:off x="3794760" y="1280160"/>
            <a:ext cx="3383280" cy="5212080"/>
          </a:xfrm>
          <a:prstGeom prst="roundRect"/>
          <a:solidFill>
            <a:srgbClr val="D4740E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</a:rPr>
              <a:t>MONTH 2</a:t>
            </a:r>
          </a:p>
          <a:p>
            <a:pPr algn="l"/>
            <a:r>
              <a:rPr lang="en-US" sz="1100" b="0">
                <a:solidFill>
                  <a:srgbClr val="FEF3E2"/>
                </a:solidFill>
                <a:latin typeface="Segoe UI"/>
              </a:rPr>
              <a:t>ENGAGEMENT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Website:</a:t>
            </a:r>
          </a:p>
          <a:p>
            <a:pPr algn="l"/>
            <a:r>
              <a:rPr lang="en-US" sz="900" b="0">
                <a:solidFill>
                  <a:srgbClr val="FEF3E2"/>
                </a:solidFill>
                <a:latin typeface="Segoe UI"/>
              </a:rPr>
              <a:t>Blog launches (2 posts)</a:t>
            </a:r>
          </a:p>
          <a:p>
            <a:pPr algn="l"/>
            <a:r>
              <a:rPr lang="en-US" sz="900" b="0">
                <a:solidFill>
                  <a:srgbClr val="FEF3E2"/>
                </a:solidFill>
                <a:latin typeface="Segoe UI"/>
              </a:rPr>
              <a:t>Location pages created</a:t>
            </a:r>
          </a:p>
          <a:p>
            <a:pPr algn="l"/>
            <a:r>
              <a:rPr lang="en-US" sz="900" b="0">
                <a:solidFill>
                  <a:srgbClr val="FEF3E2"/>
                </a:solidFill>
                <a:latin typeface="Segoe UI"/>
              </a:rPr>
              <a:t>Testimonials page</a:t>
            </a:r>
          </a:p>
          <a:p>
            <a:pPr algn="l"/>
            <a:r>
              <a:rPr lang="en-US" sz="1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Social:</a:t>
            </a:r>
          </a:p>
          <a:p>
            <a:pPr algn="l"/>
            <a:r>
              <a:rPr lang="en-US" sz="900" b="0">
                <a:solidFill>
                  <a:srgbClr val="FEF3E2"/>
                </a:solidFill>
                <a:latin typeface="Segoe UI"/>
              </a:rPr>
              <a:t>4-5 posts/week</a:t>
            </a:r>
          </a:p>
          <a:p>
            <a:pPr algn="l"/>
            <a:r>
              <a:rPr lang="en-US" sz="900" b="0">
                <a:solidFill>
                  <a:srgbClr val="FEF3E2"/>
                </a:solidFill>
                <a:latin typeface="Segoe UI"/>
              </a:rPr>
              <a:t>Reels strategy active</a:t>
            </a:r>
          </a:p>
          <a:p>
            <a:pPr algn="l"/>
            <a:r>
              <a:rPr lang="en-US" sz="900" b="0">
                <a:solidFill>
                  <a:srgbClr val="FEF3E2"/>
                </a:solidFill>
                <a:latin typeface="Segoe UI"/>
              </a:rPr>
              <a:t>Engagement campaigns</a:t>
            </a:r>
          </a:p>
          <a:p>
            <a:pPr algn="l"/>
            <a:r>
              <a:rPr lang="en-US" sz="1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Ads:</a:t>
            </a:r>
          </a:p>
          <a:p>
            <a:pPr algn="l"/>
            <a:r>
              <a:rPr lang="en-US" sz="900" b="0">
                <a:solidFill>
                  <a:srgbClr val="FEF3E2"/>
                </a:solidFill>
                <a:latin typeface="Segoe UI"/>
              </a:rPr>
              <a:t>$200 profile visits</a:t>
            </a:r>
          </a:p>
          <a:p>
            <a:pPr algn="l"/>
            <a:r>
              <a:rPr lang="en-US" sz="900" b="0">
                <a:solidFill>
                  <a:srgbClr val="FEF3E2"/>
                </a:solidFill>
                <a:latin typeface="Segoe UI"/>
              </a:rPr>
              <a:t>$100 post engagement</a:t>
            </a:r>
          </a:p>
          <a:p>
            <a:pPr algn="l"/>
            <a:r>
              <a:rPr lang="en-US" sz="900" b="0">
                <a:solidFill>
                  <a:srgbClr val="FEF3E2"/>
                </a:solidFill>
                <a:latin typeface="Segoe UI"/>
              </a:rPr>
              <a:t>A/B testing creatives</a:t>
            </a:r>
          </a:p>
        </p:txBody>
      </p:sp>
      <p:sp>
        <p:nvSpPr>
          <p:cNvPr id="6" name="m3"/>
          <p:cNvSpPr/>
          <p:nvPr/>
        </p:nvSpPr>
        <p:spPr>
          <a:xfrm>
            <a:off x="7315200" y="1280160"/>
            <a:ext cx="3383280" cy="5212080"/>
          </a:xfrm>
          <a:prstGeom prst="roundRect"/>
          <a:solidFill>
            <a:srgbClr val="1D6B3F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</a:rPr>
              <a:t>MONTH 3</a:t>
            </a:r>
          </a:p>
          <a:p>
            <a:pPr algn="l"/>
            <a:r>
              <a:rPr lang="en-US" sz="1100" b="0">
                <a:solidFill>
                  <a:srgbClr val="D5F5E3"/>
                </a:solidFill>
                <a:latin typeface="Segoe UI"/>
              </a:rPr>
              <a:t>CONVERSION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Website:</a:t>
            </a:r>
          </a:p>
          <a:p>
            <a:pPr algn="l"/>
            <a:r>
              <a:rPr lang="en-US" sz="900" b="0">
                <a:solidFill>
                  <a:srgbClr val="D5F5E3"/>
                </a:solidFill>
                <a:latin typeface="Segoe UI"/>
              </a:rPr>
              <a:t>2 more blog posts</a:t>
            </a:r>
          </a:p>
          <a:p>
            <a:pPr algn="l"/>
            <a:r>
              <a:rPr lang="en-US" sz="900" b="0">
                <a:solidFill>
                  <a:srgbClr val="D5F5E3"/>
                </a:solidFill>
                <a:latin typeface="Segoe UI"/>
              </a:rPr>
              <a:t>CTA optimization</a:t>
            </a:r>
          </a:p>
          <a:p>
            <a:pPr algn="l"/>
            <a:r>
              <a:rPr lang="en-US" sz="900" b="0">
                <a:solidFill>
                  <a:srgbClr val="D5F5E3"/>
                </a:solidFill>
                <a:latin typeface="Segoe UI"/>
              </a:rPr>
              <a:t>Lead forms improved</a:t>
            </a:r>
          </a:p>
          <a:p>
            <a:pPr algn="l"/>
            <a:r>
              <a:rPr lang="en-US" sz="1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Social:</a:t>
            </a:r>
          </a:p>
          <a:p>
            <a:pPr algn="l"/>
            <a:r>
              <a:rPr lang="en-US" sz="900" b="0">
                <a:solidFill>
                  <a:srgbClr val="D5F5E3"/>
                </a:solidFill>
                <a:latin typeface="Segoe UI"/>
              </a:rPr>
              <a:t>Lead gen content</a:t>
            </a:r>
          </a:p>
          <a:p>
            <a:pPr algn="l"/>
            <a:r>
              <a:rPr lang="en-US" sz="900" b="0">
                <a:solidFill>
                  <a:srgbClr val="D5F5E3"/>
                </a:solidFill>
                <a:latin typeface="Segoe UI"/>
              </a:rPr>
              <a:t>Customer stories</a:t>
            </a:r>
          </a:p>
          <a:p>
            <a:pPr algn="l"/>
            <a:r>
              <a:rPr lang="en-US" sz="900" b="0">
                <a:solidFill>
                  <a:srgbClr val="D5F5E3"/>
                </a:solidFill>
                <a:latin typeface="Segoe UI"/>
              </a:rPr>
              <a:t>Conversion CTAs</a:t>
            </a:r>
          </a:p>
          <a:p>
            <a:pPr algn="l"/>
            <a:r>
              <a:rPr lang="en-US" sz="1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Ads:</a:t>
            </a:r>
          </a:p>
          <a:p>
            <a:pPr algn="l"/>
            <a:r>
              <a:rPr lang="en-US" sz="900" b="0">
                <a:solidFill>
                  <a:srgbClr val="D5F5E3"/>
                </a:solidFill>
                <a:latin typeface="Segoe UI"/>
              </a:rPr>
              <a:t>$200 lookalike targeting</a:t>
            </a:r>
          </a:p>
          <a:p>
            <a:pPr algn="l"/>
            <a:r>
              <a:rPr lang="en-US" sz="900" b="0">
                <a:solidFill>
                  <a:srgbClr val="D5F5E3"/>
                </a:solidFill>
                <a:latin typeface="Segoe UI"/>
              </a:rPr>
              <a:t>$100 boost offer posts</a:t>
            </a:r>
          </a:p>
          <a:p>
            <a:pPr algn="l"/>
            <a:r>
              <a:rPr lang="en-US" sz="900" b="0">
                <a:solidFill>
                  <a:srgbClr val="D5F5E3"/>
                </a:solidFill>
                <a:latin typeface="Segoe UI"/>
              </a:rPr>
              <a:t>Retargeting warm audience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"/>
          <p:cNvSpPr/>
          <p:nvPr/>
        </p:nvSpPr>
        <p:spPr>
          <a:xfrm>
            <a:off x="0" y="0"/>
            <a:ext cx="12192000" cy="1005840"/>
          </a:xfrm>
          <a:prstGeom prst="rect"/>
          <a:solidFill>
            <a:srgbClr val="1B2A4A"/>
          </a:solidFill>
          <a:ln>
            <a:noFill/>
          </a:ln>
        </p:spPr>
      </p:sp>
      <p:sp>
        <p:nvSpPr>
          <p:cNvPr id="3" name="ht"/>
          <p:cNvSpPr txBox="1"/>
          <p:nvPr/>
        </p:nvSpPr>
        <p:spPr>
          <a:xfrm>
            <a:off x="457200" y="137160"/>
            <a:ext cx="9144000" cy="8229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900" b="1" dirty="0">
                <a:solidFill>
                  <a:srgbClr val="FFFFFF"/>
                </a:solidFill>
                <a:latin typeface="Segoe UI"/>
              </a:rPr>
              <a:t>09 | KPIs &amp; REALISTIC SUCCESS METRICS</a:t>
            </a:r>
          </a:p>
        </p:txBody>
      </p:sp>
      <p:sp>
        <p:nvSpPr>
          <p:cNvPr id="4" name="n"/>
          <p:cNvSpPr txBox="1"/>
          <p:nvPr/>
        </p:nvSpPr>
        <p:spPr>
          <a:xfrm>
            <a:off x="457200" y="1051560"/>
            <a:ext cx="10058400" cy="3657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050" b="0" dirty="0">
                <a:solidFill>
                  <a:srgbClr val="7F8C8D"/>
                </a:solidFill>
                <a:latin typeface="Segoe UI"/>
              </a:rPr>
              <a:t>No fake promises. Achievable targets based on industry benchmarks for local service businesses.</a:t>
            </a:r>
          </a:p>
        </p:txBody>
      </p:sp>
      <p:sp>
        <p:nvSpPr>
          <p:cNvPr id="5" name="sk"/>
          <p:cNvSpPr/>
          <p:nvPr/>
        </p:nvSpPr>
        <p:spPr>
          <a:xfrm>
            <a:off x="365760" y="1554480"/>
            <a:ext cx="3291840" cy="4846320"/>
          </a:xfrm>
          <a:prstGeom prst="roundRect"/>
          <a:solidFill>
            <a:srgbClr val="2980B9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SOCIAL MEDIA</a:t>
            </a:r>
          </a:p>
          <a:p>
            <a:pPr algn="l"/>
            <a:r>
              <a:rPr lang="en-US" sz="2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Instagram Followers:</a:t>
            </a:r>
          </a:p>
          <a:p>
            <a:pPr algn="l"/>
            <a:r>
              <a:rPr lang="en-US" sz="1000" b="0">
                <a:solidFill>
                  <a:srgbClr val="D6EAF8"/>
                </a:solidFill>
                <a:latin typeface="Segoe UI"/>
              </a:rPr>
              <a:t>+300-500 in 3 months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Engagement Rate:</a:t>
            </a:r>
          </a:p>
          <a:p>
            <a:pPr algn="l"/>
            <a:r>
              <a:rPr lang="en-US" sz="1000" b="0">
                <a:solidFill>
                  <a:srgbClr val="D6EAF8"/>
                </a:solidFill>
                <a:latin typeface="Segoe UI"/>
              </a:rPr>
              <a:t>Target 3-5%</a:t>
            </a:r>
          </a:p>
          <a:p>
            <a:pPr algn="l"/>
            <a:r>
              <a:rPr lang="en-US" sz="900" b="0">
                <a:solidFill>
                  <a:srgbClr val="D6EAF8"/>
                </a:solidFill>
                <a:latin typeface="Segoe UI"/>
              </a:rPr>
              <a:t>(industry avg 1-2%)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Facebook Page Likes:</a:t>
            </a:r>
          </a:p>
          <a:p>
            <a:pPr algn="l"/>
            <a:r>
              <a:rPr lang="en-US" sz="1000" b="0">
                <a:solidFill>
                  <a:srgbClr val="D6EAF8"/>
                </a:solidFill>
                <a:latin typeface="Segoe UI"/>
              </a:rPr>
              <a:t>+200-350 in 3 months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Post Reach:</a:t>
            </a:r>
          </a:p>
          <a:p>
            <a:pPr algn="l"/>
            <a:r>
              <a:rPr lang="en-US" sz="1000" b="0">
                <a:solidFill>
                  <a:srgbClr val="D6EAF8"/>
                </a:solidFill>
                <a:latin typeface="Segoe UI"/>
              </a:rPr>
              <a:t>2x-3x current reach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Reels Views:</a:t>
            </a:r>
          </a:p>
          <a:p>
            <a:pPr algn="l"/>
            <a:r>
              <a:rPr lang="en-US" sz="1000" b="0">
                <a:solidFill>
                  <a:srgbClr val="D6EAF8"/>
                </a:solidFill>
                <a:latin typeface="Segoe UI"/>
              </a:rPr>
              <a:t>500-2,000 per Reel avg</a:t>
            </a:r>
          </a:p>
        </p:txBody>
      </p:sp>
      <p:sp>
        <p:nvSpPr>
          <p:cNvPr id="6" name="wk"/>
          <p:cNvSpPr/>
          <p:nvPr/>
        </p:nvSpPr>
        <p:spPr>
          <a:xfrm>
            <a:off x="3794760" y="1554480"/>
            <a:ext cx="3291840" cy="4846320"/>
          </a:xfrm>
          <a:prstGeom prst="roundRect"/>
          <a:solidFill>
            <a:srgbClr val="1D6B3F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WEBSITE &amp; SEO</a:t>
            </a:r>
          </a:p>
          <a:p>
            <a:pPr algn="l"/>
            <a:r>
              <a:rPr lang="en-US" sz="2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Organic Traffic:</a:t>
            </a:r>
          </a:p>
          <a:p>
            <a:pPr algn="l"/>
            <a:r>
              <a:rPr lang="en-US" sz="1000" b="0">
                <a:solidFill>
                  <a:srgbClr val="D5F5E3"/>
                </a:solidFill>
                <a:latin typeface="Segoe UI"/>
              </a:rPr>
              <a:t>+30-50% increase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Keyword Rankings:</a:t>
            </a:r>
          </a:p>
          <a:p>
            <a:pPr algn="l"/>
            <a:r>
              <a:rPr lang="en-US" sz="1000" b="0">
                <a:solidFill>
                  <a:srgbClr val="D5F5E3"/>
                </a:solidFill>
                <a:latin typeface="Segoe UI"/>
              </a:rPr>
              <a:t>Top 20 for 5+ local terms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GMB Views:</a:t>
            </a:r>
          </a:p>
          <a:p>
            <a:pPr algn="l"/>
            <a:r>
              <a:rPr lang="en-US" sz="1000" b="0">
                <a:solidFill>
                  <a:srgbClr val="D5F5E3"/>
                </a:solidFill>
                <a:latin typeface="Segoe UI"/>
              </a:rPr>
              <a:t>+40-60% increase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Google Reviews:</a:t>
            </a:r>
          </a:p>
          <a:p>
            <a:pPr algn="l"/>
            <a:r>
              <a:rPr lang="en-US" sz="1000" b="0">
                <a:solidFill>
                  <a:srgbClr val="D5F5E3"/>
                </a:solidFill>
                <a:latin typeface="Segoe UI"/>
              </a:rPr>
              <a:t>+10-15 new reviews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Website Leads:</a:t>
            </a:r>
          </a:p>
          <a:p>
            <a:pPr algn="l"/>
            <a:r>
              <a:rPr lang="en-US" sz="1000" b="0">
                <a:solidFill>
                  <a:srgbClr val="D5F5E3"/>
                </a:solidFill>
                <a:latin typeface="Segoe UI"/>
              </a:rPr>
              <a:t>+20-40% more inquiries</a:t>
            </a:r>
          </a:p>
        </p:txBody>
      </p:sp>
      <p:sp>
        <p:nvSpPr>
          <p:cNvPr id="7" name="bk"/>
          <p:cNvSpPr/>
          <p:nvPr/>
        </p:nvSpPr>
        <p:spPr>
          <a:xfrm>
            <a:off x="7223760" y="1554480"/>
            <a:ext cx="3383280" cy="4846320"/>
          </a:xfrm>
          <a:prstGeom prst="roundRect"/>
          <a:solidFill>
            <a:srgbClr val="D4740E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</a:rPr>
              <a:t>BUSINESS IMPACT</a:t>
            </a:r>
          </a:p>
          <a:p>
            <a:pPr algn="l"/>
            <a:r>
              <a:rPr lang="en-US" sz="2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Quote Requests:</a:t>
            </a:r>
          </a:p>
          <a:p>
            <a:pPr algn="l"/>
            <a:r>
              <a:rPr lang="en-US" sz="1000" b="0">
                <a:solidFill>
                  <a:srgbClr val="FEF3E2"/>
                </a:solidFill>
                <a:latin typeface="Segoe UI"/>
              </a:rPr>
              <a:t>+15-25% from digital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Brand Awareness:</a:t>
            </a:r>
          </a:p>
          <a:p>
            <a:pPr algn="l"/>
            <a:r>
              <a:rPr lang="en-US" sz="1000" b="0">
                <a:solidFill>
                  <a:srgbClr val="FEF3E2"/>
                </a:solidFill>
                <a:latin typeface="Segoe UI"/>
              </a:rPr>
              <a:t>Measurable via reach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Cost Per Follower:</a:t>
            </a:r>
          </a:p>
          <a:p>
            <a:pPr algn="l"/>
            <a:r>
              <a:rPr lang="en-US" sz="1000" b="0">
                <a:solidFill>
                  <a:srgbClr val="FEF3E2"/>
                </a:solidFill>
                <a:latin typeface="Segoe UI"/>
              </a:rPr>
              <a:t>$0.80-$1.30 (with $200 budget)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Cost Per Engagement:</a:t>
            </a:r>
          </a:p>
          <a:p>
            <a:pPr algn="l"/>
            <a:r>
              <a:rPr lang="en-US" sz="1000" b="0">
                <a:solidFill>
                  <a:srgbClr val="FEF3E2"/>
                </a:solidFill>
                <a:latin typeface="Segoe UI"/>
              </a:rPr>
              <a:t>$0.05-$0.15 per interaction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Segoe UI"/>
              </a:rPr>
              <a:t>Review Rating:</a:t>
            </a:r>
          </a:p>
          <a:p>
            <a:pPr algn="l"/>
            <a:r>
              <a:rPr lang="en-US" sz="1000" b="0">
                <a:solidFill>
                  <a:srgbClr val="FEF3E2"/>
                </a:solidFill>
                <a:latin typeface="Segoe UI"/>
              </a:rPr>
              <a:t>Maintain 4.5+ stars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"/>
          <p:cNvSpPr/>
          <p:nvPr/>
        </p:nvSpPr>
        <p:spPr>
          <a:xfrm>
            <a:off x="0" y="0"/>
            <a:ext cx="12192000" cy="1005840"/>
          </a:xfrm>
          <a:prstGeom prst="rect"/>
          <a:solidFill>
            <a:srgbClr val="1B2A4A"/>
          </a:solidFill>
          <a:ln>
            <a:noFill/>
          </a:ln>
        </p:spPr>
      </p:sp>
      <p:sp>
        <p:nvSpPr>
          <p:cNvPr id="3" name="ht"/>
          <p:cNvSpPr txBox="1"/>
          <p:nvPr/>
        </p:nvSpPr>
        <p:spPr>
          <a:xfrm>
            <a:off x="457200" y="137160"/>
            <a:ext cx="9144000" cy="8229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900" b="1" dirty="0">
                <a:solidFill>
                  <a:srgbClr val="FFFFFF"/>
                </a:solidFill>
                <a:latin typeface="Segoe UI"/>
              </a:rPr>
              <a:t>10 | STANDARD PLAN - INR 10,000/month</a:t>
            </a:r>
          </a:p>
        </p:txBody>
      </p:sp>
      <p:sp>
        <p:nvSpPr>
          <p:cNvPr id="4" name="plan"/>
          <p:cNvSpPr/>
          <p:nvPr/>
        </p:nvSpPr>
        <p:spPr>
          <a:xfrm>
            <a:off x="365760" y="1280160"/>
            <a:ext cx="6583680" cy="5212080"/>
          </a:xfrm>
          <a:prstGeom prst="roundRect"/>
          <a:solidFill>
            <a:srgbClr val="F4F6F8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800" b="1">
                <a:solidFill>
                  <a:srgbClr val="1B2A4A"/>
                </a:solidFill>
                <a:latin typeface="Segoe UI"/>
              </a:rPr>
              <a:t>STANDARD PLAN</a:t>
            </a:r>
          </a:p>
          <a:p>
            <a:pPr algn="l"/>
            <a:r>
              <a:rPr lang="en-US" sz="1100" b="0">
                <a:solidFill>
                  <a:srgbClr val="7F8C8D"/>
                </a:solidFill>
                <a:latin typeface="Segoe UI"/>
              </a:rPr>
              <a:t>Social Media Management Package</a:t>
            </a:r>
          </a:p>
          <a:p>
            <a:pPr algn="l"/>
            <a:r>
              <a:rPr lang="en-US" sz="2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100" b="1">
                <a:solidFill>
                  <a:srgbClr val="C41E3A"/>
                </a:solidFill>
                <a:latin typeface="Segoe UI"/>
              </a:rPr>
              <a:t>INCLUDED SERVICES:</a:t>
            </a:r>
          </a:p>
          <a:p>
            <a:pPr algn="l"/>
            <a:r>
              <a:rPr lang="en-US" sz="1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050" b="0">
                <a:solidFill>
                  <a:srgbClr val="333333"/>
                </a:solidFill>
                <a:latin typeface="Segoe UI"/>
              </a:rPr>
              <a:t>Monthly Content Calendar [8-11 Posts]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   1-2 Reels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   2-3 Carousels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   4-6 Static Posts</a:t>
            </a:r>
          </a:p>
          <a:p>
            <a:pPr algn="l"/>
            <a:r>
              <a:rPr lang="en-US" sz="10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050" b="0">
                <a:solidFill>
                  <a:srgbClr val="333333"/>
                </a:solidFill>
                <a:latin typeface="Segoe UI"/>
              </a:rPr>
              <a:t>Hashtag Research</a:t>
            </a:r>
          </a:p>
          <a:p>
            <a:pPr algn="l"/>
            <a:r>
              <a:rPr lang="en-US" sz="1050" b="0">
                <a:solidFill>
                  <a:srgbClr val="333333"/>
                </a:solidFill>
                <a:latin typeface="Segoe UI"/>
              </a:rPr>
              <a:t>Basic SEO-Based Optimization</a:t>
            </a:r>
          </a:p>
          <a:p>
            <a:pPr algn="l"/>
            <a:r>
              <a:rPr lang="en-US" sz="1050" b="0">
                <a:solidFill>
                  <a:srgbClr val="333333"/>
                </a:solidFill>
                <a:latin typeface="Segoe UI"/>
              </a:rPr>
              <a:t>Basic Page Optimization</a:t>
            </a:r>
          </a:p>
          <a:p>
            <a:pPr algn="l"/>
            <a:r>
              <a:rPr lang="en-US" sz="1050" b="0">
                <a:solidFill>
                  <a:srgbClr val="333333"/>
                </a:solidFill>
                <a:latin typeface="Segoe UI"/>
              </a:rPr>
              <a:t>Monthly Performance Report</a:t>
            </a:r>
          </a:p>
          <a:p>
            <a:pPr algn="l"/>
            <a:r>
              <a:rPr lang="en-US" sz="2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050" b="1">
                <a:solidFill>
                  <a:srgbClr val="2C3E50"/>
                </a:solidFill>
                <a:latin typeface="Segoe UI"/>
              </a:rPr>
              <a:t>Platform: Facebook &amp; Instagram Only</a:t>
            </a:r>
          </a:p>
          <a:p>
            <a:pPr algn="l"/>
            <a:r>
              <a:rPr lang="en-US" sz="1050" b="0">
                <a:solidFill>
                  <a:srgbClr val="C41E3A"/>
                </a:solidFill>
                <a:latin typeface="Segoe UI"/>
              </a:rPr>
              <a:t>NO Ads Management Included</a:t>
            </a:r>
          </a:p>
        </p:txBody>
      </p:sp>
      <p:sp>
        <p:nvSpPr>
          <p:cNvPr id="5" name="price"/>
          <p:cNvSpPr/>
          <p:nvPr/>
        </p:nvSpPr>
        <p:spPr>
          <a:xfrm>
            <a:off x="7223760" y="1280160"/>
            <a:ext cx="3383280" cy="2743200"/>
          </a:xfrm>
          <a:prstGeom prst="roundRect"/>
          <a:solidFill>
            <a:srgbClr val="1B2A4A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C41E3A"/>
                </a:solidFill>
                <a:latin typeface="Segoe UI"/>
              </a:rPr>
              <a:t>INVESTMENT</a:t>
            </a:r>
          </a:p>
          <a:p>
            <a:pPr algn="l"/>
            <a:r>
              <a:rPr lang="en-US" sz="3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2000" b="1">
                <a:solidFill>
                  <a:srgbClr val="FFFFFF"/>
                </a:solidFill>
                <a:latin typeface="Segoe UI"/>
              </a:rPr>
              <a:t>INR 10,000</a:t>
            </a:r>
          </a:p>
          <a:p>
            <a:pPr algn="l"/>
            <a:r>
              <a:rPr lang="en-US" sz="1200" b="0">
                <a:solidFill>
                  <a:srgbClr val="BDC3C7"/>
                </a:solidFill>
                <a:latin typeface="Segoe UI"/>
              </a:rPr>
              <a:t>/month</a:t>
            </a:r>
          </a:p>
          <a:p>
            <a:pPr algn="l"/>
            <a:r>
              <a:rPr lang="en-US" sz="2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0">
                <a:solidFill>
                  <a:srgbClr val="BDC3C7"/>
                </a:solidFill>
                <a:latin typeface="Segoe UI"/>
              </a:rPr>
              <a:t>Best for businesses starting</a:t>
            </a:r>
          </a:p>
          <a:p>
            <a:pPr algn="l"/>
            <a:r>
              <a:rPr lang="en-US" sz="1000" b="0">
                <a:solidFill>
                  <a:srgbClr val="BDC3C7"/>
                </a:solidFill>
                <a:latin typeface="Segoe UI"/>
              </a:rPr>
              <a:t>their social media journey</a:t>
            </a:r>
          </a:p>
        </p:txBody>
      </p:sp>
      <p:sp>
        <p:nvSpPr>
          <p:cNvPr id="6" name="ideal"/>
          <p:cNvSpPr/>
          <p:nvPr/>
        </p:nvSpPr>
        <p:spPr>
          <a:xfrm>
            <a:off x="7223760" y="4206240"/>
            <a:ext cx="3383280" cy="2286000"/>
          </a:xfrm>
          <a:prstGeom prst="roundRect"/>
          <a:solidFill>
            <a:srgbClr val="F4F6F8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050" b="1">
                <a:solidFill>
                  <a:srgbClr val="1B2A4A"/>
                </a:solidFill>
                <a:latin typeface="Segoe UI"/>
              </a:rPr>
              <a:t>IDEAL FOR:</a:t>
            </a:r>
          </a:p>
          <a:p>
            <a:pPr algn="l"/>
            <a:r>
              <a:rPr lang="en-US" sz="1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Businesses needing basic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social presence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Consistent posting without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ad spend commitment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Brand building on a budget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"/>
          <p:cNvSpPr/>
          <p:nvPr/>
        </p:nvSpPr>
        <p:spPr>
          <a:xfrm>
            <a:off x="0" y="0"/>
            <a:ext cx="12192000" cy="1005840"/>
          </a:xfrm>
          <a:prstGeom prst="rect"/>
          <a:solidFill>
            <a:srgbClr val="1B2A4A"/>
          </a:solidFill>
          <a:ln>
            <a:noFill/>
          </a:ln>
        </p:spPr>
      </p:sp>
      <p:sp>
        <p:nvSpPr>
          <p:cNvPr id="3" name="ht"/>
          <p:cNvSpPr txBox="1"/>
          <p:nvPr/>
        </p:nvSpPr>
        <p:spPr>
          <a:xfrm>
            <a:off x="457200" y="137160"/>
            <a:ext cx="9144000" cy="822960"/>
          </a:xfrm>
          <a:prstGeom prst="rect"/>
          <a:noFill/>
        </p:spPr>
        <p:txBody>
          <a:bodyPr wrap="square" anchor="t"/>
          <a:lstStyle/>
          <a:p>
            <a:pPr algn="l">
              <a:spcBef>
                <a:spcPts val="0"/>
              </a:spcBef>
            </a:pPr>
            <a:r>
              <a:rPr lang="en-US" sz="1900" b="1" dirty="0">
                <a:solidFill>
                  <a:srgbClr val="FFFFFF"/>
                </a:solidFill>
                <a:latin typeface="Segoe UI"/>
              </a:rPr>
              <a:t>11 | BUSINESS PLAN - INR 18,000/month</a:t>
            </a:r>
          </a:p>
        </p:txBody>
      </p:sp>
      <p:sp>
        <p:nvSpPr>
          <p:cNvPr id="4" name="plan"/>
          <p:cNvSpPr/>
          <p:nvPr/>
        </p:nvSpPr>
        <p:spPr>
          <a:xfrm>
            <a:off x="365760" y="1280160"/>
            <a:ext cx="6583680" cy="5212080"/>
          </a:xfrm>
          <a:prstGeom prst="roundRect"/>
          <a:solidFill>
            <a:srgbClr val="F4F6F8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800" b="1">
                <a:solidFill>
                  <a:srgbClr val="1B2A4A"/>
                </a:solidFill>
                <a:latin typeface="Segoe UI"/>
              </a:rPr>
              <a:t>BUSINESS PLAN</a:t>
            </a:r>
          </a:p>
          <a:p>
            <a:pPr algn="l"/>
            <a:r>
              <a:rPr lang="en-US" sz="1100" b="0">
                <a:solidFill>
                  <a:srgbClr val="7F8C8D"/>
                </a:solidFill>
                <a:latin typeface="Segoe UI"/>
              </a:rPr>
              <a:t>Complete Digital Growth Package</a:t>
            </a:r>
          </a:p>
          <a:p>
            <a:pPr algn="l"/>
            <a:r>
              <a:rPr lang="en-US" sz="2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100" b="1">
                <a:solidFill>
                  <a:srgbClr val="C41E3A"/>
                </a:solidFill>
                <a:latin typeface="Segoe UI"/>
              </a:rPr>
              <a:t>INCLUDED SERVICES:</a:t>
            </a:r>
          </a:p>
          <a:p>
            <a:pPr algn="l"/>
            <a:r>
              <a:rPr lang="en-US" sz="15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050" b="0">
                <a:solidFill>
                  <a:srgbClr val="333333"/>
                </a:solidFill>
                <a:latin typeface="Segoe UI"/>
              </a:rPr>
              <a:t>Monthly Content Calendar [18-20 Posts]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   2-4 Reels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   3-5 Carousels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   9-12 Static Posts</a:t>
            </a:r>
          </a:p>
          <a:p>
            <a:pPr algn="l"/>
            <a:r>
              <a:rPr lang="en-US" sz="10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050" b="1">
                <a:solidFill>
                  <a:srgbClr val="2C3E50"/>
                </a:solidFill>
                <a:latin typeface="Segoe UI"/>
              </a:rPr>
              <a:t>Platforms: Facebook, Instagram, LinkedIn, YouTube</a:t>
            </a:r>
          </a:p>
          <a:p>
            <a:pPr algn="l"/>
            <a:r>
              <a:rPr lang="en-US" sz="100" b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/>
            <a:r>
              <a:rPr lang="en-US" sz="1050" b="0">
                <a:solidFill>
                  <a:srgbClr val="333333"/>
                </a:solidFill>
                <a:latin typeface="Segoe UI"/>
              </a:rPr>
              <a:t>ADs Management Included</a:t>
            </a:r>
          </a:p>
          <a:p>
            <a:pPr algn="l"/>
            <a:r>
              <a:rPr lang="en-US" sz="950" b="0">
                <a:solidFill>
                  <a:srgbClr val="555555"/>
                </a:solidFill>
                <a:latin typeface="Segoe UI"/>
              </a:rPr>
              <a:t>   (Budget up to $300 USD/month)</a:t>
            </a:r>
          </a:p>
          <a:p>
            <a:pPr algn="l"/>
            <a:r>
              <a:rPr lang="en-US" sz="1050" b="0">
                <a:solidFill>
                  <a:srgbClr val="333333"/>
                </a:solidFill>
                <a:latin typeface="Segoe UI"/>
              </a:rPr>
              <a:t>Basic GMB Optimization &amp; Updates</a:t>
            </a:r>
          </a:p>
          <a:p>
            <a:pPr algn="l"/>
            <a:r>
              <a:rPr lang="en-US" sz="1050" b="0">
                <a:solidFill>
                  <a:srgbClr val="333333"/>
                </a:solidFill>
                <a:latin typeface="Segoe UI"/>
              </a:rPr>
              <a:t>Bi-Weekly Strategy Calls</a:t>
            </a:r>
          </a:p>
          <a:p>
            <a:pPr algn="l"/>
            <a:r>
              <a:rPr lang="en-US" sz="1050" b="0">
                <a:solidFill>
                  <a:srgbClr val="333333"/>
                </a:solidFill>
                <a:latin typeface="Segoe UI"/>
              </a:rPr>
              <a:t>Monthly Performance Report</a:t>
            </a:r>
          </a:p>
        </p:txBody>
      </p:sp>
      <p:sp>
        <p:nvSpPr>
          <p:cNvPr id="5" name="price"/>
          <p:cNvSpPr/>
          <p:nvPr/>
        </p:nvSpPr>
        <p:spPr>
          <a:xfrm>
            <a:off x="7223760" y="1280160"/>
            <a:ext cx="3383280" cy="2926080"/>
          </a:xfrm>
          <a:prstGeom prst="roundRect"/>
          <a:solidFill>
            <a:srgbClr val="1B2A4A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200" b="1">
                <a:solidFill>
                  <a:srgbClr val="C41E3A"/>
                </a:solidFill>
                <a:latin typeface="Segoe UI"/>
              </a:rPr>
              <a:t>INVESTMENT</a:t>
            </a:r>
          </a:p>
          <a:p>
            <a:pPr algn="l"/>
            <a:r>
              <a:rPr lang="en-US" sz="3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2000" b="1">
                <a:solidFill>
                  <a:srgbClr val="FFFFFF"/>
                </a:solidFill>
                <a:latin typeface="Segoe UI"/>
              </a:rPr>
              <a:t>INR 18,000</a:t>
            </a:r>
          </a:p>
          <a:p>
            <a:pPr algn="l"/>
            <a:r>
              <a:rPr lang="en-US" sz="1200" b="0">
                <a:solidFill>
                  <a:srgbClr val="BDC3C7"/>
                </a:solidFill>
                <a:latin typeface="Segoe UI"/>
              </a:rPr>
              <a:t>/month</a:t>
            </a:r>
          </a:p>
          <a:p>
            <a:pPr algn="l"/>
            <a:r>
              <a:rPr lang="en-US" sz="2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1000" b="0">
                <a:solidFill>
                  <a:srgbClr val="BDC3C7"/>
                </a:solidFill>
                <a:latin typeface="Segoe UI"/>
              </a:rPr>
              <a:t>Ad budget separate:</a:t>
            </a:r>
          </a:p>
          <a:p>
            <a:pPr algn="l"/>
            <a:r>
              <a:rPr lang="en-US" sz="1100" b="1">
                <a:solidFill>
                  <a:srgbClr val="FFFFFF"/>
                </a:solidFill>
                <a:latin typeface="Segoe UI"/>
              </a:rPr>
              <a:t>$300 USD/month</a:t>
            </a:r>
          </a:p>
          <a:p>
            <a:pPr algn="l"/>
            <a:r>
              <a:rPr lang="en-US" sz="900" b="0">
                <a:solidFill>
                  <a:srgbClr val="BDC3C7"/>
                </a:solidFill>
                <a:latin typeface="Segoe UI"/>
              </a:rPr>
              <a:t>(client-funded)</a:t>
            </a:r>
          </a:p>
        </p:txBody>
      </p:sp>
      <p:sp>
        <p:nvSpPr>
          <p:cNvPr id="6" name="reco"/>
          <p:cNvSpPr/>
          <p:nvPr/>
        </p:nvSpPr>
        <p:spPr>
          <a:xfrm>
            <a:off x="7223760" y="4389120"/>
            <a:ext cx="3383280" cy="2103120"/>
          </a:xfrm>
          <a:prstGeom prst="roundRect"/>
          <a:solidFill>
            <a:srgbClr val="C41E3A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Segoe UI"/>
              </a:rPr>
              <a:t>RECOMMENDED</a:t>
            </a:r>
          </a:p>
          <a:p>
            <a:pPr algn="l"/>
            <a:r>
              <a:rPr lang="en-US" sz="1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950" b="0">
                <a:solidFill>
                  <a:srgbClr val="FFFFFF"/>
                </a:solidFill>
                <a:latin typeface="Segoe UI"/>
              </a:rPr>
              <a:t>Best value for businesses</a:t>
            </a:r>
          </a:p>
          <a:p>
            <a:pPr algn="l"/>
            <a:r>
              <a:rPr lang="en-US" sz="950" b="0">
                <a:solidFill>
                  <a:srgbClr val="FFFFFF"/>
                </a:solidFill>
                <a:latin typeface="Segoe UI"/>
              </a:rPr>
              <a:t>ready to grow aggressively</a:t>
            </a:r>
          </a:p>
          <a:p>
            <a:pPr algn="l"/>
            <a:r>
              <a:rPr lang="en-US" sz="1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lang="en-US" sz="950" b="0">
                <a:solidFill>
                  <a:srgbClr val="FFFFFF"/>
                </a:solidFill>
                <a:latin typeface="Segoe UI"/>
              </a:rPr>
              <a:t>Includes ads management</a:t>
            </a:r>
          </a:p>
          <a:p>
            <a:pPr algn="l"/>
            <a:r>
              <a:rPr lang="en-US" sz="950" b="0">
                <a:solidFill>
                  <a:srgbClr val="FFFFFF"/>
                </a:solidFill>
                <a:latin typeface="Segoe UI"/>
              </a:rPr>
              <a:t>Multi-platform presence</a:t>
            </a:r>
          </a:p>
          <a:p>
            <a:pPr algn="l"/>
            <a:r>
              <a:rPr lang="en-US" sz="950" b="0">
                <a:solidFill>
                  <a:srgbClr val="FFFFFF"/>
                </a:solidFill>
                <a:latin typeface="Segoe UI"/>
              </a:rPr>
              <a:t>GMB + Strategy calls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"/>
          <p:cNvSpPr/>
          <p:nvPr/>
        </p:nvSpPr>
        <p:spPr>
          <a:xfrm>
            <a:off x="0" y="0"/>
            <a:ext cx="12192000" cy="109728"/>
          </a:xfrm>
          <a:prstGeom prst="rect"/>
          <a:solidFill>
            <a:srgbClr val="C41E3A"/>
          </a:solidFill>
          <a:ln>
            <a:noFill/>
          </a:ln>
        </p:spPr>
      </p:sp>
      <p:sp>
        <p:nvSpPr>
          <p:cNvPr id="3" name="ty"/>
          <p:cNvSpPr txBox="1"/>
          <p:nvPr/>
        </p:nvSpPr>
        <p:spPr>
          <a:xfrm>
            <a:off x="1828800" y="1645920"/>
            <a:ext cx="7315200" cy="2011680"/>
          </a:xfrm>
          <a:prstGeom prst="rect"/>
          <a:noFill/>
        </p:spPr>
        <p:txBody>
          <a:bodyPr wrap="square" anchor="t"/>
          <a:lstStyle/>
          <a:p>
            <a:pPr algn="ctr">
              <a:spcBef>
                <a:spcPts val="0"/>
              </a:spcBef>
            </a:pPr>
            <a:r>
              <a:rPr lang="en-US" sz="3600" b="1" dirty="0">
                <a:solidFill>
                  <a:srgbClr val="FFFFFF"/>
                </a:solidFill>
                <a:latin typeface="Segoe UI"/>
              </a:rPr>
              <a:t>READY TO GROW?</a:t>
            </a:r>
          </a:p>
          <a:p>
            <a:pPr algn="ctr">
              <a:spcBef>
                <a:spcPts val="400"/>
              </a:spcBef>
            </a:pPr>
            <a:r>
              <a:rPr lang="en-US" sz="1600" b="0" dirty="0">
                <a:solidFill>
                  <a:srgbClr val="BDC3C7"/>
                </a:solidFill>
                <a:latin typeface="Segoe UI"/>
              </a:rPr>
              <a:t>Let's Build Something Great Together.</a:t>
            </a:r>
          </a:p>
        </p:txBody>
      </p:sp>
      <p:sp>
        <p:nvSpPr>
          <p:cNvPr id="4" name="ns"/>
          <p:cNvSpPr/>
          <p:nvPr/>
        </p:nvSpPr>
        <p:spPr>
          <a:xfrm>
            <a:off x="2743200" y="3657600"/>
            <a:ext cx="5486400" cy="2560320"/>
          </a:xfrm>
          <a:prstGeom prst="roundRect"/>
          <a:solidFill>
            <a:srgbClr val="2C3E50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ctr"/>
            <a:r>
              <a:rPr lang="en-US" sz="1300" b="1">
                <a:solidFill>
                  <a:srgbClr val="C41E3A"/>
                </a:solidFill>
                <a:latin typeface="Segoe UI"/>
              </a:rPr>
              <a:t>NEXT STEPS</a:t>
            </a:r>
          </a:p>
          <a:p>
            <a:pPr algn="l"/>
            <a:r>
              <a:rPr lang="en-US" sz="2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/>
            <a:r>
              <a:rPr lang="en-US" sz="1100" b="0">
                <a:solidFill>
                  <a:srgbClr val="FFFFFF"/>
                </a:solidFill>
                <a:latin typeface="Segoe UI"/>
              </a:rPr>
              <a:t>1. Review this proposal</a:t>
            </a:r>
          </a:p>
          <a:p>
            <a:pPr algn="ctr"/>
            <a:r>
              <a:rPr lang="en-US" sz="1100" b="0">
                <a:solidFill>
                  <a:srgbClr val="FFFFFF"/>
                </a:solidFill>
                <a:latin typeface="Segoe UI"/>
              </a:rPr>
              <a:t>2. Choose your plan (Standard / Business)</a:t>
            </a:r>
          </a:p>
          <a:p>
            <a:pPr algn="ctr"/>
            <a:r>
              <a:rPr lang="en-US" sz="1100" b="0">
                <a:solidFill>
                  <a:srgbClr val="FFFFFF"/>
                </a:solidFill>
                <a:latin typeface="Segoe UI"/>
              </a:rPr>
              <a:t>3. Schedule a strategy call</a:t>
            </a:r>
          </a:p>
          <a:p>
            <a:pPr algn="ctr"/>
            <a:r>
              <a:rPr lang="en-US" sz="1100" b="0">
                <a:solidFill>
                  <a:srgbClr val="FFFFFF"/>
                </a:solidFill>
                <a:latin typeface="Segoe UI"/>
              </a:rPr>
              <a:t>4. We start working within 48 hours</a:t>
            </a:r>
          </a:p>
        </p:txBody>
      </p:sp>
      <p:sp>
        <p:nvSpPr>
          <p:cNvPr id="5" name="bot"/>
          <p:cNvSpPr/>
          <p:nvPr/>
        </p:nvSpPr>
        <p:spPr>
          <a:xfrm>
            <a:off x="0" y="6675120"/>
            <a:ext cx="12192000" cy="182880"/>
          </a:xfrm>
          <a:prstGeom prst="rect"/>
          <a:solidFill>
            <a:srgbClr val="C41E3A"/>
          </a:solidFill>
          <a:ln>
            <a:noFill/>
          </a:ln>
        </p:spPr>
      </p:sp>
    </p:spTree>
  </p:cSld>
</p:sld>
</file>

<file path=ppt/theme/theme1.xml><?xml version="1.0" encoding="utf-8"?>
<a:theme xmlns:a="http://schemas.openxmlformats.org/drawingml/2006/main" name="Apollo Theme">
  <a:themeElements>
    <a:clrScheme name="Apollo">
      <a:dk1>
        <a:srgbClr val="1B2A4A"/>
      </a:dk1>
      <a:lt1>
        <a:srgbClr val="FFFFFF"/>
      </a:lt1>
      <a:dk2>
        <a:srgbClr val="2C3E50"/>
      </a:dk2>
      <a:lt2>
        <a:srgbClr val="F8F9FA"/>
      </a:lt2>
      <a:accent1>
        <a:srgbClr val="C41E3A"/>
      </a:accent1>
      <a:accent2>
        <a:srgbClr val="1B2A4A"/>
      </a:accent2>
      <a:accent3>
        <a:srgbClr val="2ECC71"/>
      </a:accent3>
      <a:accent4>
        <a:srgbClr val="F39C12"/>
      </a:accent4>
      <a:accent5>
        <a:srgbClr val="3498DB"/>
      </a:accent5>
      <a:accent6>
        <a:srgbClr val="1ABC9C"/>
      </a:accent6>
      <a:hlink>
        <a:srgbClr val="C41E3A"/>
      </a:hlink>
      <a:folHlink>
        <a:srgbClr val="9B59B6"/>
      </a:folHlink>
    </a:clrScheme>
    <a:fontScheme name="Apollo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Apoll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